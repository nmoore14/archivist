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9759e98260481d" /><Relationship Type="http://schemas.openxmlformats.org/officeDocument/2006/relationships/extended-properties" Target="/docProps/app.xml" Id="Raa74b7350c674dc8" /><Relationship Type="http://schemas.openxmlformats.org/officeDocument/2006/relationships/officeDocument" Target="/ppt/presentation.xml" Id="R4a621b8dcaa74c67" /></Relationships>
</file>

<file path=ppt/presentation.xml><?xml version="1.0" encoding="utf-8"?>
<p:presentation xmlns:p="http://schemas.openxmlformats.org/presentationml/2006/main">
  <p:sldMasterIdLst>
    <p:sldMasterId xmlns:r="http://schemas.openxmlformats.org/officeDocument/2006/relationships" id="2147483648" r:id="R63bbe68f60db4ce9"/>
  </p:sldMasterIdLst>
  <p:notesMasterIdLst>
    <p:notesMasterId xmlns:r="http://schemas.openxmlformats.org/officeDocument/2006/relationships" r:id="R2a15d31b452544c1"/>
  </p:notesMasterIdLst>
  <p:sldIdLst>
    <p:sldId xmlns:r="http://schemas.openxmlformats.org/officeDocument/2006/relationships" id="256" r:id="R4fb79e456f964141"/>
    <p:sldId xmlns:r="http://schemas.openxmlformats.org/officeDocument/2006/relationships" id="257" r:id="R8a400bf7755a4207"/>
    <p:sldId xmlns:r="http://schemas.openxmlformats.org/officeDocument/2006/relationships" id="258" r:id="R370962f2d40d4fba"/>
    <p:sldId xmlns:r="http://schemas.openxmlformats.org/officeDocument/2006/relationships" id="259" r:id="R723624d0c6e742bc"/>
    <p:sldId xmlns:r="http://schemas.openxmlformats.org/officeDocument/2006/relationships" id="260" r:id="R6c4241335cee4e4d"/>
    <p:sldId xmlns:r="http://schemas.openxmlformats.org/officeDocument/2006/relationships" id="261" r:id="R8ee07dfb3b164c04"/>
    <p:sldId xmlns:r="http://schemas.openxmlformats.org/officeDocument/2006/relationships" id="262" r:id="Rc360e969229c4685"/>
    <p:sldId xmlns:r="http://schemas.openxmlformats.org/officeDocument/2006/relationships" id="263" r:id="R7c4cb52d509747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2a89d08de64b60" /><Relationship Type="http://schemas.openxmlformats.org/officeDocument/2006/relationships/slideMaster" Target="/ppt/slideMasters/slideMaster1.xml" Id="R63bbe68f60db4ce9" /><Relationship Type="http://schemas.openxmlformats.org/officeDocument/2006/relationships/notesMaster" Target="/ppt/notesMasters/notesMaster1.xml" Id="R2a15d31b452544c1" /><Relationship Type="http://schemas.openxmlformats.org/officeDocument/2006/relationships/presProps" Target="/ppt/presProps.xml" Id="R064d48776e434a90" /><Relationship Type="http://schemas.openxmlformats.org/officeDocument/2006/relationships/tableStyles" Target="/ppt/tableStyles.xml" Id="Rf884e2ace57b4e36" /><Relationship Type="http://schemas.openxmlformats.org/officeDocument/2006/relationships/slide" Target="/ppt/slides/slide1.xml" Id="R4fb79e456f964141" /><Relationship Type="http://schemas.openxmlformats.org/officeDocument/2006/relationships/slide" Target="/ppt/slides/slide2.xml" Id="R8a400bf7755a4207" /><Relationship Type="http://schemas.openxmlformats.org/officeDocument/2006/relationships/slide" Target="/ppt/slides/slide3.xml" Id="R370962f2d40d4fba" /><Relationship Type="http://schemas.openxmlformats.org/officeDocument/2006/relationships/slide" Target="/ppt/slides/slide4.xml" Id="R723624d0c6e742bc" /><Relationship Type="http://schemas.openxmlformats.org/officeDocument/2006/relationships/slide" Target="/ppt/slides/slide5.xml" Id="R6c4241335cee4e4d" /><Relationship Type="http://schemas.openxmlformats.org/officeDocument/2006/relationships/slide" Target="/ppt/slides/slide6.xml" Id="R8ee07dfb3b164c04" /><Relationship Type="http://schemas.openxmlformats.org/officeDocument/2006/relationships/slide" Target="/ppt/slides/slide7.xml" Id="Rc360e969229c4685" /><Relationship Type="http://schemas.openxmlformats.org/officeDocument/2006/relationships/slide" Target="/ppt/slides/slide8.xml" Id="R7c4cb52d509747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f7dac3aab848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f5a73e8adb4d1b" /><Relationship Type="http://schemas.openxmlformats.org/officeDocument/2006/relationships/notesMaster" Target="/ppt/notesMasters/notesMaster1.xml" Id="R72b36f58bd1e42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ff26b7f52b4fe2" /><Relationship Type="http://schemas.openxmlformats.org/officeDocument/2006/relationships/notesMaster" Target="/ppt/notesMasters/notesMaster1.xml" Id="R3812b64f442548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4d6180c3574fd7" /><Relationship Type="http://schemas.openxmlformats.org/officeDocument/2006/relationships/notesMaster" Target="/ppt/notesMasters/notesMaster1.xml" Id="Rb957e9b1f44f47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8fdd9e26bc4aa7" /><Relationship Type="http://schemas.openxmlformats.org/officeDocument/2006/relationships/notesMaster" Target="/ppt/notesMasters/notesMaster1.xml" Id="R8f1e7daca48e4e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1c929dbccd40a3" /><Relationship Type="http://schemas.openxmlformats.org/officeDocument/2006/relationships/notesMaster" Target="/ppt/notesMasters/notesMaster1.xml" Id="Rdb60cca12ec04f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1ae0250dc341f2" /><Relationship Type="http://schemas.openxmlformats.org/officeDocument/2006/relationships/notesMaster" Target="/ppt/notesMasters/notesMaster1.xml" Id="R1914c1407ee443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b6622b978049d3" /><Relationship Type="http://schemas.openxmlformats.org/officeDocument/2006/relationships/notesMaster" Target="/ppt/notesMasters/notesMaster1.xml" Id="R99f591c197944a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debaae2aba42ce" /><Relationship Type="http://schemas.openxmlformats.org/officeDocument/2006/relationships/notesMaster" Target="/ppt/notesMasters/notesMaster1.xml" Id="Rf4dd7382aa7145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Stakeholders need educational AI that is useful without sending sensitive course content to an external service. Archivist explores a practical middle path: local deployment, guided administration, and answers tied directly to instructor-approved sources. Today I’ll show the problem, the system, how I evaluated it, and what the results suggest.</a:t>
            </a:r>
          </a:p>
          <a:p xmlns:a="http://schemas.openxmlformats.org/drawingml/2006/main">
            <a:r>
              <a:t/>
            </a:r>
          </a:p>
          <a:p xmlns:a="http://schemas.openxmlformats.org/drawingml/2006/main">
            <a:r>
              <a:t>[Sources]</a:t>
            </a:r>
          </a:p>
          <a:p xmlns:a="http://schemas.openxmlformats.org/drawingml/2006/main">
            <a:r>
              <a:t>- Project repository artifacts and evaluation outputs supplied in the workspace.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began with a stakeholder tension. Schools want the benefits of conversational AI, but administrators also need control over data, sources, and deployment. Local models help with control, yet local AI is usually harder to configure. That leads to the project’s research question: can a guided workflow make local AI practical for an educational setting?</a:t>
            </a:r>
          </a:p>
          <a:p xmlns:a="http://schemas.openxmlformats.org/drawingml/2006/main">
            <a:r>
              <a:t/>
            </a:r>
          </a:p>
          <a:p xmlns:a="http://schemas.openxmlformats.org/drawingml/2006/main">
            <a:r>
              <a:t>[Sources]</a:t>
            </a:r>
          </a:p>
          <a:p xmlns:a="http://schemas.openxmlformats.org/drawingml/2006/main">
            <a:r>
              <a:t>- Project repository artifacts and evaluation outputs supplied in the workspace.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is deliberately simple. An administrator creates a workspace, uploads trusted material, and assigns students. Archivist extracts the text, breaks it into chunks, and creates embeddings locally. When a student asks a question, the system retrieves the most relevant chunks, sends that context to the local language model, and returns an answer with source references. The value is not just the model—it is the guided end-to-end workflow.</a:t>
            </a:r>
          </a:p>
          <a:p xmlns:a="http://schemas.openxmlformats.org/drawingml/2006/main">
            <a:r>
              <a:t/>
            </a:r>
          </a:p>
          <a:p xmlns:a="http://schemas.openxmlformats.org/drawingml/2006/main">
            <a:r>
              <a:t>[Sources]</a:t>
            </a:r>
          </a:p>
          <a:p xmlns:a="http://schemas.openxmlformats.org/drawingml/2006/main">
            <a:r>
              <a:t>- Project repository artifacts and evaluation outputs supplied in the workspace.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used a two-stage methodology. First, the baseline study compared the model without retrieval against the same model with retrieval on 15 versioned questions. I manually scored correctness and tracked groundedness, retrieval success, hallucination handling, and response time. Second, I evaluated six retrieval configurations by changing chunk size, overlap, and the number of retrieved chunks. The same test set made the comparisons reproducible. Because the sample is small, I treat these results as directional rather than statistically significant.</a:t>
            </a:r>
          </a:p>
          <a:p xmlns:a="http://schemas.openxmlformats.org/drawingml/2006/main">
            <a:r>
              <a:t/>
            </a:r>
          </a:p>
          <a:p xmlns:a="http://schemas.openxmlformats.org/drawingml/2006/main">
            <a:r>
              <a:t>[Sources]</a:t>
            </a:r>
          </a:p>
          <a:p xmlns:a="http://schemas.openxmlformats.org/drawingml/2006/main">
            <a:r>
              <a:t>- Project repository artifacts and evaluation outputs supplied in the workspace.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result is the clearest evidence in the project. Without retrieval, answers earned 63.3 percent of the maximum correctness score. With retrieval, correctness rose to 93.3 percent—a 30-point improvement. Retrieval found relevant material for every question, average groundedness was 0.93, and the system correctly handled the questions whose answers were not in the source. The important stakeholder takeaway is that trusted context did more than add citations; it materially improved the answer behavior.</a:t>
            </a:r>
          </a:p>
          <a:p xmlns:a="http://schemas.openxmlformats.org/drawingml/2006/main">
            <a:r>
              <a:t/>
            </a:r>
          </a:p>
          <a:p xmlns:a="http://schemas.openxmlformats.org/drawingml/2006/main">
            <a:r>
              <a:t>[Sources]</a:t>
            </a:r>
          </a:p>
          <a:p xmlns:a="http://schemas.openxmlformats.org/drawingml/2006/main">
            <a:r>
              <a:t>- Project repository artifacts and evaluation outputs supplied in the workspace.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optimization study showed that more retrieved context was not automatically better. The selected configuration kept the original 1,000-character chunks and 200-character overlap, but reduced top-k from three chunks to one. It reached 96.7 percent correctness with a mean response time of 1.07 seconds. Relative to the baseline configuration, that is a 3.3-point correctness improvement and a 43 percent reduction in mean latency. A smaller-chunk setup did reach 100 percent correctness, but the project’s combined quality-and-speed score favored top-k one.</a:t>
            </a:r>
          </a:p>
          <a:p xmlns:a="http://schemas.openxmlformats.org/drawingml/2006/main">
            <a:r>
              <a:t/>
            </a:r>
          </a:p>
          <a:p xmlns:a="http://schemas.openxmlformats.org/drawingml/2006/main">
            <a:r>
              <a:t>[Sources]</a:t>
            </a:r>
          </a:p>
          <a:p xmlns:a="http://schemas.openxmlformats.org/drawingml/2006/main">
            <a:r>
              <a:t>- Project repository artifacts and evaluation outputs supplied in the workspace.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results support three conclusions: retrieval is valuable for this use case, configuration choices matter, and the local architecture can deliver responsive grounded answers. But they do not yet prove that nontechnical administrators can deploy the system successfully. The evaluation is small and project-specific, and the optimization quality scores are an AI-assisted draft pending human verification. The next study should focus directly on the guided workflow using completion rate, time on task, errors, recovery behavior, and confidence.</a:t>
            </a:r>
          </a:p>
          <a:p xmlns:a="http://schemas.openxmlformats.org/drawingml/2006/main">
            <a:r>
              <a:t/>
            </a:r>
          </a:p>
          <a:p xmlns:a="http://schemas.openxmlformats.org/drawingml/2006/main">
            <a:r>
              <a:t>[Sources]</a:t>
            </a:r>
          </a:p>
          <a:p xmlns:a="http://schemas.openxmlformats.org/drawingml/2006/main">
            <a:r>
              <a:t>- Project repository artifacts and evaluation outputs supplied in the workspace.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project’s central conclusion is that local AI for schools becomes more useful when answers are grounded and more practical when deployment is guided. Archivist demonstrates that technical path with a working MVP and measurable retrieval gains. The next decision is whether to proceed to stakeholder usability testing, followed by hardening work such as OCR, background indexing, security controls, and scalable vector storage. I’d welcome questions and feedback on the workflow and the next evaluation phase.</a:t>
            </a:r>
          </a:p>
          <a:p xmlns:a="http://schemas.openxmlformats.org/drawingml/2006/main">
            <a:r>
              <a:t/>
            </a:r>
          </a:p>
          <a:p xmlns:a="http://schemas.openxmlformats.org/drawingml/2006/main">
            <a:r>
              <a:t>[Sources]</a:t>
            </a:r>
          </a:p>
          <a:p xmlns:a="http://schemas.openxmlformats.org/drawingml/2006/main">
            <a:r>
              <a:t>- Project repository artifacts and evaluation outputs supplied in the workspace.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1cb4a495834d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53401f419641fa" /><Relationship Type="http://schemas.openxmlformats.org/officeDocument/2006/relationships/slideLayout" Target="/ppt/slideLayouts/slideLayout1.xml" Id="R1218f2d2fc5842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18f2d2fc5842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b323679d254239" /><Relationship Type="http://schemas.openxmlformats.org/officeDocument/2006/relationships/notesSlide" Target="/ppt/notesSlides/notesSlide1.xml" Id="Rd0fa810a4df649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05718d37d7488b" /><Relationship Type="http://schemas.openxmlformats.org/officeDocument/2006/relationships/notesSlide" Target="/ppt/notesSlides/notesSlide2.xml" Id="Rea2b917132524d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d82f26d9fc48ee" /><Relationship Type="http://schemas.openxmlformats.org/officeDocument/2006/relationships/notesSlide" Target="/ppt/notesSlides/notesSlide3.xml" Id="R5ce2cd6305c241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f8183b866b54ed6" /><Relationship Type="http://schemas.openxmlformats.org/officeDocument/2006/relationships/notesSlide" Target="/ppt/notesSlides/notesSlide4.xml" Id="R589ded15a1174e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68f60429d34810" /><Relationship Type="http://schemas.openxmlformats.org/officeDocument/2006/relationships/notesSlide" Target="/ppt/notesSlides/notesSlide5.xml" Id="R4783e1339ae547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bfc15334c814a56" /><Relationship Type="http://schemas.openxmlformats.org/officeDocument/2006/relationships/image" Target="/ppt/media/image.png" Id="R6aa1d0c0844d4166" /><Relationship Type="http://schemas.openxmlformats.org/officeDocument/2006/relationships/notesSlide" Target="/ppt/notesSlides/notesSlide6.xml" Id="R633b6ff2044248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4d592ea3594cdc" /><Relationship Type="http://schemas.openxmlformats.org/officeDocument/2006/relationships/notesSlide" Target="/ppt/notesSlides/notesSlide7.xml" Id="R568ac4f29f164e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80d71d27da946a1" /><Relationship Type="http://schemas.openxmlformats.org/officeDocument/2006/relationships/notesSlide" Target="/ppt/notesSlides/notesSlide8.xml" Id="Reab506398a95415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7A167C-BC0C-4CDD-9F0E-A8BC99BEB4E1}"/>
              </a:ext>
            </a:extLst>
          </p:cNvPr>
          <p:cNvSpPr>
            <a:spLocks xmlns:a="http://schemas.openxmlformats.org/drawingml/2006/main" noGrp="1"/>
          </p:cNvSpPr>
          <p:nvPr/>
        </p:nvSpPr>
        <p:spPr>
          <a:xfrm xmlns:a="http://schemas.openxmlformats.org/drawingml/2006/main">
            <a:off x="533400" y="36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9616B"/>
                </a:solidFill>
              </a:defRPr>
            </a:pPr>
            <a:r>
              <a:rPr sz="1050" b="1">
                <a:solidFill>
                  <a:srgbClr val="59616B"/>
                </a:solidFill>
              </a:rPr>
              <a:t>MSAI 699 CAPSTONE</a:t>
            </a:r>
          </a:p>
        </p:txBody>
      </p:sp>
      <p:sp>
        <p:nvSpPr>
          <p:cNvPr id="2" name="">
            <a:extLst xmlns:a="http://schemas.openxmlformats.org/drawingml/2006/main">
              <a:ext uri="{FF2B5EF4-FFF2-40B4-BE49-F238E27FC236}">
                <a16:creationId xmlns:a16="http://schemas.microsoft.com/office/drawing/2014/main" id="{4D924F98-8E3B-4AA1-9F31-C64BF4329023}"/>
              </a:ext>
            </a:extLst>
          </p:cNvPr>
          <p:cNvSpPr>
            <a:spLocks xmlns:a="http://schemas.openxmlformats.org/drawingml/2006/main" noGrp="1"/>
          </p:cNvSpPr>
          <p:nvPr/>
        </p:nvSpPr>
        <p:spPr>
          <a:xfrm xmlns:a="http://schemas.openxmlformats.org/drawingml/2006/main">
            <a:off x="533400" y="1790700"/>
            <a:ext cx="666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700" b="1">
                <a:solidFill>
                  <a:srgbClr val="101214"/>
                </a:solidFill>
              </a:defRPr>
            </a:pPr>
            <a:r>
              <a:rPr sz="5700" b="1">
                <a:solidFill>
                  <a:srgbClr val="101214"/>
                </a:solidFill>
              </a:rPr>
              <a:t>Archivist</a:t>
            </a:r>
          </a:p>
        </p:txBody>
      </p:sp>
      <p:sp>
        <p:nvSpPr>
          <p:cNvPr id="3" name="">
            <a:extLst xmlns:a="http://schemas.openxmlformats.org/drawingml/2006/main">
              <a:ext uri="{FF2B5EF4-FFF2-40B4-BE49-F238E27FC236}">
                <a16:creationId xmlns:a16="http://schemas.microsoft.com/office/drawing/2014/main" id="{5173CB77-3F3F-4E95-A977-76AFBBCC69F4}"/>
              </a:ext>
            </a:extLst>
          </p:cNvPr>
          <p:cNvSpPr>
            <a:spLocks xmlns:a="http://schemas.openxmlformats.org/drawingml/2006/main" noGrp="1"/>
          </p:cNvSpPr>
          <p:nvPr/>
        </p:nvSpPr>
        <p:spPr>
          <a:xfrm xmlns:a="http://schemas.openxmlformats.org/drawingml/2006/main">
            <a:off x="533400" y="283845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0">
                <a:solidFill>
                  <a:srgbClr val="173B57"/>
                </a:solidFill>
              </a:defRPr>
            </a:pPr>
            <a:r>
              <a:rPr sz="2250" b="0">
                <a:solidFill>
                  <a:srgbClr val="173B57"/>
                </a:solidFill>
              </a:rPr>
              <a:t>A local-first AI workspace that keeps course answers grounded in trusted material</a:t>
            </a:r>
          </a:p>
        </p:txBody>
      </p:sp>
      <p:sp>
        <p:nvSpPr>
          <p:cNvPr id="4" name="">
            <a:extLst xmlns:a="http://schemas.openxmlformats.org/drawingml/2006/main">
              <a:ext uri="{FF2B5EF4-FFF2-40B4-BE49-F238E27FC236}">
                <a16:creationId xmlns:a16="http://schemas.microsoft.com/office/drawing/2014/main" id="{E9FC1817-BB8D-4DA1-AD63-F2A0FDCD4C41}"/>
              </a:ext>
            </a:extLst>
          </p:cNvPr>
          <p:cNvSpPr>
            <a:spLocks xmlns:a="http://schemas.openxmlformats.org/drawingml/2006/main" noGrp="1"/>
          </p:cNvSpPr>
          <p:nvPr/>
        </p:nvSpPr>
        <p:spPr>
          <a:xfrm xmlns:a="http://schemas.openxmlformats.org/drawingml/2006/main">
            <a:off x="8858250" y="0"/>
            <a:ext cx="3333750" cy="6858000"/>
          </a:xfrm>
          <a:prstGeom xmlns:a="http://schemas.openxmlformats.org/drawingml/2006/main" prst="rect">
            <a:avLst/>
          </a:prstGeom>
          <a:solidFill xmlns:a="http://schemas.openxmlformats.org/drawingml/2006/main">
            <a:srgbClr val="173B5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8D94B78-01EC-45EA-8084-81E76490E398}"/>
              </a:ext>
            </a:extLst>
          </p:cNvPr>
          <p:cNvSpPr>
            <a:spLocks xmlns:a="http://schemas.openxmlformats.org/drawingml/2006/main" noGrp="1"/>
          </p:cNvSpPr>
          <p:nvPr/>
        </p:nvSpPr>
        <p:spPr>
          <a:xfrm xmlns:a="http://schemas.openxmlformats.org/drawingml/2006/main">
            <a:off x="9239250" y="1428750"/>
            <a:ext cx="2333625" cy="2333625"/>
          </a:xfrm>
          <a:prstGeom xmlns:a="http://schemas.openxmlformats.org/drawingml/2006/main" prst="roundRect">
            <a:avLst>
              <a:gd name="adj" fmla="val 9796"/>
            </a:avLst>
          </a:prstGeom>
          <a:solidFill xmlns:a="http://schemas.openxmlformats.org/drawingml/2006/main">
            <a:srgbClr val="75D4F5"/>
          </a:solidFill>
          <a:ln xmlns:a="http://schemas.openxmlformats.org/drawingml/2006/main" w="9525">
            <a:prstDash val="solid"/>
          </a:ln>
        </p:spPr>
      </p:sp>
      <p:sp>
        <p:nvSpPr>
          <p:cNvPr id="6" name="">
            <a:extLst xmlns:a="http://schemas.openxmlformats.org/drawingml/2006/main">
              <a:ext uri="{FF2B5EF4-FFF2-40B4-BE49-F238E27FC236}">
                <a16:creationId xmlns:a16="http://schemas.microsoft.com/office/drawing/2014/main" id="{479096C4-F388-4CF7-A855-12560CC928EE}"/>
              </a:ext>
            </a:extLst>
          </p:cNvPr>
          <p:cNvSpPr>
            <a:spLocks xmlns:a="http://schemas.openxmlformats.org/drawingml/2006/main" noGrp="1"/>
          </p:cNvSpPr>
          <p:nvPr/>
        </p:nvSpPr>
        <p:spPr>
          <a:xfrm xmlns:a="http://schemas.openxmlformats.org/drawingml/2006/main">
            <a:off x="9467850" y="1762125"/>
            <a:ext cx="18764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73B57"/>
                </a:solidFill>
              </a:defRPr>
            </a:pPr>
            <a:r>
              <a:rPr sz="1650" b="1">
                <a:solidFill>
                  <a:srgbClr val="173B57"/>
                </a:solidFill>
              </a:rPr>
              <a:t>PRIVATE</a:t>
            </a:r>
          </a:p>
        </p:txBody>
      </p:sp>
      <p:sp>
        <p:nvSpPr>
          <p:cNvPr id="7" name="">
            <a:extLst xmlns:a="http://schemas.openxmlformats.org/drawingml/2006/main">
              <a:ext uri="{FF2B5EF4-FFF2-40B4-BE49-F238E27FC236}">
                <a16:creationId xmlns:a16="http://schemas.microsoft.com/office/drawing/2014/main" id="{2A2C7F68-585B-4229-A826-A9E9961AC318}"/>
              </a:ext>
            </a:extLst>
          </p:cNvPr>
          <p:cNvSpPr>
            <a:spLocks xmlns:a="http://schemas.openxmlformats.org/drawingml/2006/main" noGrp="1"/>
          </p:cNvSpPr>
          <p:nvPr/>
        </p:nvSpPr>
        <p:spPr>
          <a:xfrm xmlns:a="http://schemas.openxmlformats.org/drawingml/2006/main">
            <a:off x="9467850" y="2314575"/>
            <a:ext cx="18764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173B57"/>
                </a:solidFill>
              </a:defRPr>
            </a:pPr>
            <a:r>
              <a:rPr sz="2400" b="1">
                <a:solidFill>
                  <a:srgbClr val="173B57"/>
                </a:solidFill>
              </a:rPr>
              <a:t>+</a:t>
            </a:r>
          </a:p>
        </p:txBody>
      </p:sp>
      <p:sp>
        <p:nvSpPr>
          <p:cNvPr id="8" name="">
            <a:extLst xmlns:a="http://schemas.openxmlformats.org/drawingml/2006/main">
              <a:ext uri="{FF2B5EF4-FFF2-40B4-BE49-F238E27FC236}">
                <a16:creationId xmlns:a16="http://schemas.microsoft.com/office/drawing/2014/main" id="{DAFB9157-C470-425C-907B-5A6D076B42E0}"/>
              </a:ext>
            </a:extLst>
          </p:cNvPr>
          <p:cNvSpPr>
            <a:spLocks xmlns:a="http://schemas.openxmlformats.org/drawingml/2006/main" noGrp="1"/>
          </p:cNvSpPr>
          <p:nvPr/>
        </p:nvSpPr>
        <p:spPr>
          <a:xfrm xmlns:a="http://schemas.openxmlformats.org/drawingml/2006/main">
            <a:off x="9467850" y="2905125"/>
            <a:ext cx="18764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73B57"/>
                </a:solidFill>
              </a:defRPr>
            </a:pPr>
            <a:r>
              <a:rPr sz="1650" b="1">
                <a:solidFill>
                  <a:srgbClr val="173B57"/>
                </a:solidFill>
              </a:rPr>
              <a:t>GROUNDED</a:t>
            </a:r>
          </a:p>
        </p:txBody>
      </p:sp>
      <p:sp>
        <p:nvSpPr>
          <p:cNvPr id="9" name="">
            <a:extLst xmlns:a="http://schemas.openxmlformats.org/drawingml/2006/main">
              <a:ext uri="{FF2B5EF4-FFF2-40B4-BE49-F238E27FC236}">
                <a16:creationId xmlns:a16="http://schemas.microsoft.com/office/drawing/2014/main" id="{B9200362-3ECF-4E92-9C50-8E9510118C1E}"/>
              </a:ext>
            </a:extLst>
          </p:cNvPr>
          <p:cNvSpPr>
            <a:spLocks xmlns:a="http://schemas.openxmlformats.org/drawingml/2006/main" noGrp="1"/>
          </p:cNvSpPr>
          <p:nvPr/>
        </p:nvSpPr>
        <p:spPr>
          <a:xfrm xmlns:a="http://schemas.openxmlformats.org/drawingml/2006/main">
            <a:off x="533400" y="59055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9616B"/>
                </a:solidFill>
              </a:defRPr>
            </a:pPr>
            <a:r>
              <a:rPr sz="1350" b="0">
                <a:solidFill>
                  <a:srgbClr val="59616B"/>
                </a:solidFill>
              </a:rPr>
              <a:t>Nick Moore  •  Summer 2026</a:t>
            </a:r>
          </a:p>
        </p:txBody>
      </p:sp>
    </p:spTree>
    <p:extLst>
      <p:ext uri="{BB962C8B-B14F-4D97-AF65-F5344CB8AC3E}">
        <p14:creationId xmlns:p14="http://schemas.microsoft.com/office/powerpoint/2010/main" val="2165622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979EEFA-692C-4596-9EBD-8EA613F66B99}"/>
              </a:ext>
            </a:extLst>
          </p:cNvPr>
          <p:cNvSpPr>
            <a:spLocks xmlns:a="http://schemas.openxmlformats.org/drawingml/2006/main" noGrp="1"/>
          </p:cNvSpPr>
          <p:nvPr/>
        </p:nvSpPr>
        <p:spPr>
          <a:xfrm xmlns:a="http://schemas.openxmlformats.org/drawingml/2006/main">
            <a:off x="5334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59616B"/>
                </a:solidFill>
              </a:defRPr>
            </a:pPr>
            <a:r>
              <a:rPr sz="975" b="1">
                <a:solidFill>
                  <a:srgbClr val="59616B"/>
                </a:solidFill>
              </a:rPr>
              <a:t>THE PROBLEM</a:t>
            </a:r>
          </a:p>
        </p:txBody>
      </p:sp>
      <p:sp>
        <p:nvSpPr>
          <p:cNvPr id="2" name="">
            <a:extLst xmlns:a="http://schemas.openxmlformats.org/drawingml/2006/main">
              <a:ext uri="{FF2B5EF4-FFF2-40B4-BE49-F238E27FC236}">
                <a16:creationId xmlns:a16="http://schemas.microsoft.com/office/drawing/2014/main" id="{47B5126C-095B-411B-8E58-1CC5B8CB192F}"/>
              </a:ext>
            </a:extLst>
          </p:cNvPr>
          <p:cNvSpPr>
            <a:spLocks xmlns:a="http://schemas.openxmlformats.org/drawingml/2006/main" noGrp="1"/>
          </p:cNvSpPr>
          <p:nvPr/>
        </p:nvSpPr>
        <p:spPr>
          <a:xfrm xmlns:a="http://schemas.openxmlformats.org/drawingml/2006/main">
            <a:off x="533400" y="64770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01214"/>
                </a:solidFill>
              </a:defRPr>
            </a:pPr>
            <a:r>
              <a:rPr sz="2850" b="1">
                <a:solidFill>
                  <a:srgbClr val="101214"/>
                </a:solidFill>
              </a:rPr>
              <a:t>Schools face an AI access–control tradeoff</a:t>
            </a:r>
          </a:p>
        </p:txBody>
      </p:sp>
      <p:sp>
        <p:nvSpPr>
          <p:cNvPr id="3" name="">
            <a:extLst xmlns:a="http://schemas.openxmlformats.org/drawingml/2006/main">
              <a:ext uri="{FF2B5EF4-FFF2-40B4-BE49-F238E27FC236}">
                <a16:creationId xmlns:a16="http://schemas.microsoft.com/office/drawing/2014/main" id="{FB0591D4-6945-4B5C-9EDF-5771676FF683}"/>
              </a:ext>
            </a:extLst>
          </p:cNvPr>
          <p:cNvSpPr>
            <a:spLocks xmlns:a="http://schemas.openxmlformats.org/drawingml/2006/main" noGrp="1"/>
          </p:cNvSpPr>
          <p:nvPr/>
        </p:nvSpPr>
        <p:spPr>
          <a:xfrm xmlns:a="http://schemas.openxmlformats.org/drawingml/2006/main">
            <a:off x="533400" y="1390650"/>
            <a:ext cx="11125200" cy="19050"/>
          </a:xfrm>
          <a:prstGeom xmlns:a="http://schemas.openxmlformats.org/drawingml/2006/main" prst="rect">
            <a:avLst/>
          </a:prstGeom>
          <a:solidFill xmlns:a="http://schemas.openxmlformats.org/drawingml/2006/main">
            <a:srgbClr val="10121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1B5BB83-6469-4BE8-829E-F16141254444}"/>
              </a:ext>
            </a:extLst>
          </p:cNvPr>
          <p:cNvSpPr>
            <a:spLocks xmlns:a="http://schemas.openxmlformats.org/drawingml/2006/main" noGrp="1"/>
          </p:cNvSpPr>
          <p:nvPr/>
        </p:nvSpPr>
        <p:spPr>
          <a:xfrm xmlns:a="http://schemas.openxmlformats.org/drawingml/2006/main">
            <a:off x="533400" y="1695450"/>
            <a:ext cx="609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01214"/>
                </a:solidFill>
              </a:defRPr>
            </a:pPr>
            <a:r>
              <a:rPr sz="2025" b="1">
                <a:solidFill>
                  <a:srgbClr val="101214"/>
                </a:solidFill>
              </a:rPr>
              <a:t>Cloud assistants are easy to try, but they can create concerns around privacy, source control, cost, and reliability.</a:t>
            </a:r>
          </a:p>
        </p:txBody>
      </p:sp>
      <p:sp>
        <p:nvSpPr>
          <p:cNvPr id="5" name="">
            <a:extLst xmlns:a="http://schemas.openxmlformats.org/drawingml/2006/main">
              <a:ext uri="{FF2B5EF4-FFF2-40B4-BE49-F238E27FC236}">
                <a16:creationId xmlns:a16="http://schemas.microsoft.com/office/drawing/2014/main" id="{EC05A8BE-E2DD-4917-A2DC-074110DAC8F4}"/>
              </a:ext>
            </a:extLst>
          </p:cNvPr>
          <p:cNvSpPr>
            <a:spLocks xmlns:a="http://schemas.openxmlformats.org/drawingml/2006/main" noGrp="1"/>
          </p:cNvSpPr>
          <p:nvPr/>
        </p:nvSpPr>
        <p:spPr>
          <a:xfrm xmlns:a="http://schemas.openxmlformats.org/drawingml/2006/main">
            <a:off x="533400" y="3009900"/>
            <a:ext cx="5143500" cy="2266950"/>
          </a:xfrm>
          <a:prstGeom xmlns:a="http://schemas.openxmlformats.org/drawingml/2006/main" prst="rect">
            <a:avLst/>
          </a:prstGeom>
          <a:solidFill xmlns:a="http://schemas.openxmlformats.org/drawingml/2006/main">
            <a:srgbClr val="EEF1F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1B939D4-24A6-4981-976D-4E7D36CC2512}"/>
              </a:ext>
            </a:extLst>
          </p:cNvPr>
          <p:cNvSpPr>
            <a:spLocks xmlns:a="http://schemas.openxmlformats.org/drawingml/2006/main" noGrp="1"/>
          </p:cNvSpPr>
          <p:nvPr/>
        </p:nvSpPr>
        <p:spPr>
          <a:xfrm xmlns:a="http://schemas.openxmlformats.org/drawingml/2006/main">
            <a:off x="800100" y="32385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3B57"/>
                </a:solidFill>
              </a:defRPr>
            </a:pPr>
            <a:r>
              <a:rPr sz="1725" b="1">
                <a:solidFill>
                  <a:srgbClr val="173B57"/>
                </a:solidFill>
              </a:rPr>
              <a:t>What stakeholders need</a:t>
            </a:r>
          </a:p>
        </p:txBody>
      </p:sp>
      <p:sp>
        <p:nvSpPr>
          <p:cNvPr id="7" name="">
            <a:extLst xmlns:a="http://schemas.openxmlformats.org/drawingml/2006/main">
              <a:ext uri="{FF2B5EF4-FFF2-40B4-BE49-F238E27FC236}">
                <a16:creationId xmlns:a16="http://schemas.microsoft.com/office/drawing/2014/main" id="{7309FDE8-0978-47FC-A69C-A05094AB3857}"/>
              </a:ext>
            </a:extLst>
          </p:cNvPr>
          <p:cNvSpPr>
            <a:spLocks xmlns:a="http://schemas.openxmlformats.org/drawingml/2006/main" noGrp="1"/>
          </p:cNvSpPr>
          <p:nvPr/>
        </p:nvSpPr>
        <p:spPr>
          <a:xfrm xmlns:a="http://schemas.openxmlformats.org/drawingml/2006/main">
            <a:off x="800100" y="3762375"/>
            <a:ext cx="43338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01214"/>
                </a:solidFill>
              </a:defRPr>
            </a:pPr>
            <a:r>
              <a:rPr sz="1500" b="0">
                <a:solidFill>
                  <a:srgbClr val="101214"/>
                </a:solidFill>
              </a:rPr>
              <a:t>• Course content stays under local control</a:t>
            </a:r>
          </a:p>
          <a:p xmlns:a="http://schemas.openxmlformats.org/drawingml/2006/main">
            <a:pPr algn="l">
              <a:defRPr sz="1500" b="0">
                <a:solidFill>
                  <a:srgbClr val="101214"/>
                </a:solidFill>
              </a:defRPr>
            </a:pPr>
            <a:r>
              <a:rPr sz="1500" b="0">
                <a:solidFill>
                  <a:srgbClr val="101214"/>
                </a:solidFill>
              </a:rPr>
              <a:t>• Answers trace back to approved material</a:t>
            </a:r>
          </a:p>
          <a:p xmlns:a="http://schemas.openxmlformats.org/drawingml/2006/main">
            <a:pPr algn="l">
              <a:defRPr sz="1500" b="0">
                <a:solidFill>
                  <a:srgbClr val="101214"/>
                </a:solidFill>
              </a:defRPr>
            </a:pPr>
            <a:r>
              <a:rPr sz="1500" b="0">
                <a:solidFill>
                  <a:srgbClr val="101214"/>
                </a:solidFill>
              </a:rPr>
              <a:t>• Setup works without an AI infrastructure team</a:t>
            </a:r>
          </a:p>
        </p:txBody>
      </p:sp>
      <p:sp>
        <p:nvSpPr>
          <p:cNvPr id="8" name="">
            <a:extLst xmlns:a="http://schemas.openxmlformats.org/drawingml/2006/main">
              <a:ext uri="{FF2B5EF4-FFF2-40B4-BE49-F238E27FC236}">
                <a16:creationId xmlns:a16="http://schemas.microsoft.com/office/drawing/2014/main" id="{52F03FB6-E3BE-44B7-86E7-F585349FD1B5}"/>
              </a:ext>
            </a:extLst>
          </p:cNvPr>
          <p:cNvSpPr>
            <a:spLocks xmlns:a="http://schemas.openxmlformats.org/drawingml/2006/main" noGrp="1"/>
          </p:cNvSpPr>
          <p:nvPr/>
        </p:nvSpPr>
        <p:spPr>
          <a:xfrm xmlns:a="http://schemas.openxmlformats.org/drawingml/2006/main">
            <a:off x="7239000" y="18097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9616B"/>
                </a:solidFill>
              </a:defRPr>
            </a:pPr>
            <a:r>
              <a:rPr sz="1350" b="1">
                <a:solidFill>
                  <a:srgbClr val="59616B"/>
                </a:solidFill>
              </a:rPr>
              <a:t>The research question</a:t>
            </a:r>
          </a:p>
        </p:txBody>
      </p:sp>
      <p:sp>
        <p:nvSpPr>
          <p:cNvPr id="9" name="">
            <a:extLst xmlns:a="http://schemas.openxmlformats.org/drawingml/2006/main">
              <a:ext uri="{FF2B5EF4-FFF2-40B4-BE49-F238E27FC236}">
                <a16:creationId xmlns:a16="http://schemas.microsoft.com/office/drawing/2014/main" id="{5CAB8259-564F-4F29-B8DF-3A29F1A5A34B}"/>
              </a:ext>
            </a:extLst>
          </p:cNvPr>
          <p:cNvSpPr>
            <a:spLocks xmlns:a="http://schemas.openxmlformats.org/drawingml/2006/main" noGrp="1"/>
          </p:cNvSpPr>
          <p:nvPr/>
        </p:nvSpPr>
        <p:spPr>
          <a:xfrm xmlns:a="http://schemas.openxmlformats.org/drawingml/2006/main">
            <a:off x="7239000" y="2286000"/>
            <a:ext cx="3714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F80ED"/>
                </a:solidFill>
              </a:defRPr>
            </a:pPr>
            <a:r>
              <a:rPr sz="2700" b="1">
                <a:solidFill>
                  <a:srgbClr val="2F80ED"/>
                </a:solidFill>
              </a:rPr>
              <a:t>Can guided workflows reduce the technical barriers to deploying local AI assistants for education?</a:t>
            </a:r>
          </a:p>
        </p:txBody>
      </p:sp>
      <p:sp>
        <p:nvSpPr>
          <p:cNvPr id="10" name="">
            <a:extLst xmlns:a="http://schemas.openxmlformats.org/drawingml/2006/main">
              <a:ext uri="{FF2B5EF4-FFF2-40B4-BE49-F238E27FC236}">
                <a16:creationId xmlns:a16="http://schemas.microsoft.com/office/drawing/2014/main" id="{96D52B39-FC97-4526-87BD-D56B737A73E4}"/>
              </a:ext>
            </a:extLst>
          </p:cNvPr>
          <p:cNvSpPr>
            <a:spLocks xmlns:a="http://schemas.openxmlformats.org/drawingml/2006/main" noGrp="1"/>
          </p:cNvSpPr>
          <p:nvPr/>
        </p:nvSpPr>
        <p:spPr>
          <a:xfrm xmlns:a="http://schemas.openxmlformats.org/drawingml/2006/main">
            <a:off x="5334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9616B"/>
                </a:solidFill>
              </a:defRPr>
            </a:pPr>
            <a:r>
              <a:rPr sz="750" b="1">
                <a:solidFill>
                  <a:srgbClr val="59616B"/>
                </a:solidFill>
              </a:rPr>
              <a:t>ARCHIVIST  •  LOCAL-FIRST AI FOR SCHOOLS</a:t>
            </a:r>
          </a:p>
        </p:txBody>
      </p:sp>
      <p:sp>
        <p:nvSpPr>
          <p:cNvPr id="11" name="">
            <a:extLst xmlns:a="http://schemas.openxmlformats.org/drawingml/2006/main">
              <a:ext uri="{FF2B5EF4-FFF2-40B4-BE49-F238E27FC236}">
                <a16:creationId xmlns:a16="http://schemas.microsoft.com/office/drawing/2014/main" id="{4A741207-2964-4519-A006-04B9159B317B}"/>
              </a:ext>
            </a:extLst>
          </p:cNvPr>
          <p:cNvSpPr>
            <a:spLocks xmlns:a="http://schemas.openxmlformats.org/drawingml/2006/main" noGrp="1"/>
          </p:cNvSpPr>
          <p:nvPr/>
        </p:nvSpPr>
        <p:spPr>
          <a:xfrm xmlns:a="http://schemas.openxmlformats.org/drawingml/2006/main">
            <a:off x="11049000" y="645795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9616B"/>
                </a:solidFill>
              </a:defRPr>
            </a:pPr>
            <a:r>
              <a:rPr sz="750" b="1">
                <a:solidFill>
                  <a:srgbClr val="59616B"/>
                </a:solidFill>
              </a:rPr>
              <a:t>02</a:t>
            </a:r>
          </a:p>
        </p:txBody>
      </p:sp>
    </p:spTree>
    <p:extLst>
      <p:ext uri="{BB962C8B-B14F-4D97-AF65-F5344CB8AC3E}">
        <p14:creationId xmlns:p14="http://schemas.microsoft.com/office/powerpoint/2010/main" val="8326135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959362A-2913-4D2D-BA2E-E5D52D41492C}"/>
              </a:ext>
            </a:extLst>
          </p:cNvPr>
          <p:cNvSpPr>
            <a:spLocks xmlns:a="http://schemas.openxmlformats.org/drawingml/2006/main" noGrp="1"/>
          </p:cNvSpPr>
          <p:nvPr/>
        </p:nvSpPr>
        <p:spPr>
          <a:xfrm xmlns:a="http://schemas.openxmlformats.org/drawingml/2006/main">
            <a:off x="5334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59616B"/>
                </a:solidFill>
              </a:defRPr>
            </a:pPr>
            <a:r>
              <a:rPr sz="975" b="1">
                <a:solidFill>
                  <a:srgbClr val="59616B"/>
                </a:solidFill>
              </a:rPr>
              <a:t>THE SOLUTION</a:t>
            </a:r>
          </a:p>
        </p:txBody>
      </p:sp>
      <p:sp>
        <p:nvSpPr>
          <p:cNvPr id="2" name="">
            <a:extLst xmlns:a="http://schemas.openxmlformats.org/drawingml/2006/main">
              <a:ext uri="{FF2B5EF4-FFF2-40B4-BE49-F238E27FC236}">
                <a16:creationId xmlns:a16="http://schemas.microsoft.com/office/drawing/2014/main" id="{03C7435C-90F0-4B07-86E4-99D7593291C5}"/>
              </a:ext>
            </a:extLst>
          </p:cNvPr>
          <p:cNvSpPr>
            <a:spLocks xmlns:a="http://schemas.openxmlformats.org/drawingml/2006/main" noGrp="1"/>
          </p:cNvSpPr>
          <p:nvPr/>
        </p:nvSpPr>
        <p:spPr>
          <a:xfrm xmlns:a="http://schemas.openxmlformats.org/drawingml/2006/main">
            <a:off x="533400" y="64770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01214"/>
                </a:solidFill>
              </a:defRPr>
            </a:pPr>
            <a:r>
              <a:rPr sz="2850" b="1">
                <a:solidFill>
                  <a:srgbClr val="101214"/>
                </a:solidFill>
              </a:rPr>
              <a:t>Archivist turns trusted course files into cited student answers</a:t>
            </a:r>
          </a:p>
        </p:txBody>
      </p:sp>
      <p:sp>
        <p:nvSpPr>
          <p:cNvPr id="3" name="">
            <a:extLst xmlns:a="http://schemas.openxmlformats.org/drawingml/2006/main">
              <a:ext uri="{FF2B5EF4-FFF2-40B4-BE49-F238E27FC236}">
                <a16:creationId xmlns:a16="http://schemas.microsoft.com/office/drawing/2014/main" id="{8A6FDE13-F555-40BF-8529-39FC4FD5B5A4}"/>
              </a:ext>
            </a:extLst>
          </p:cNvPr>
          <p:cNvSpPr>
            <a:spLocks xmlns:a="http://schemas.openxmlformats.org/drawingml/2006/main" noGrp="1"/>
          </p:cNvSpPr>
          <p:nvPr/>
        </p:nvSpPr>
        <p:spPr>
          <a:xfrm xmlns:a="http://schemas.openxmlformats.org/drawingml/2006/main">
            <a:off x="533400" y="1390650"/>
            <a:ext cx="11125200" cy="19050"/>
          </a:xfrm>
          <a:prstGeom xmlns:a="http://schemas.openxmlformats.org/drawingml/2006/main" prst="rect">
            <a:avLst/>
          </a:prstGeom>
          <a:solidFill xmlns:a="http://schemas.openxmlformats.org/drawingml/2006/main">
            <a:srgbClr val="10121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51FCB2F-79C7-447E-BE30-5B671183BF02}"/>
              </a:ext>
            </a:extLst>
          </p:cNvPr>
          <p:cNvSpPr>
            <a:spLocks xmlns:a="http://schemas.openxmlformats.org/drawingml/2006/main" noGrp="1"/>
          </p:cNvSpPr>
          <p:nvPr/>
        </p:nvSpPr>
        <p:spPr>
          <a:xfrm xmlns:a="http://schemas.openxmlformats.org/drawingml/2006/main">
            <a:off x="609600" y="2038350"/>
            <a:ext cx="2247900" cy="2381250"/>
          </a:xfrm>
          <a:prstGeom xmlns:a="http://schemas.openxmlformats.org/drawingml/2006/main" prst="rect">
            <a:avLst/>
          </a:prstGeom>
          <a:solidFill xmlns:a="http://schemas.openxmlformats.org/drawingml/2006/main">
            <a:srgbClr val="EEF1F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3982BEC-678D-4C64-9B8D-3D9E252DFBEA}"/>
              </a:ext>
            </a:extLst>
          </p:cNvPr>
          <p:cNvSpPr>
            <a:spLocks xmlns:a="http://schemas.openxmlformats.org/drawingml/2006/main" noGrp="1"/>
          </p:cNvSpPr>
          <p:nvPr/>
        </p:nvSpPr>
        <p:spPr>
          <a:xfrm xmlns:a="http://schemas.openxmlformats.org/drawingml/2006/main">
            <a:off x="819150" y="22288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59616B"/>
                </a:solidFill>
              </a:defRPr>
            </a:pPr>
            <a:r>
              <a:rPr sz="1200" b="1">
                <a:solidFill>
                  <a:srgbClr val="59616B"/>
                </a:solidFill>
              </a:rPr>
              <a:t>1  ADMIN</a:t>
            </a:r>
          </a:p>
        </p:txBody>
      </p:sp>
      <p:sp>
        <p:nvSpPr>
          <p:cNvPr id="6" name="">
            <a:extLst xmlns:a="http://schemas.openxmlformats.org/drawingml/2006/main">
              <a:ext uri="{FF2B5EF4-FFF2-40B4-BE49-F238E27FC236}">
                <a16:creationId xmlns:a16="http://schemas.microsoft.com/office/drawing/2014/main" id="{930421E7-A4FD-426B-B3C5-1D8A6984215A}"/>
              </a:ext>
            </a:extLst>
          </p:cNvPr>
          <p:cNvSpPr>
            <a:spLocks xmlns:a="http://schemas.openxmlformats.org/drawingml/2006/main" noGrp="1"/>
          </p:cNvSpPr>
          <p:nvPr/>
        </p:nvSpPr>
        <p:spPr>
          <a:xfrm xmlns:a="http://schemas.openxmlformats.org/drawingml/2006/main">
            <a:off x="819150" y="2800350"/>
            <a:ext cx="18288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01214"/>
                </a:solidFill>
              </a:defRPr>
            </a:pPr>
            <a:r>
              <a:rPr sz="1650" b="0">
                <a:solidFill>
                  <a:srgbClr val="101214"/>
                </a:solidFill>
              </a:rPr>
              <a:t>Create a course workspace and upload approved documents.</a:t>
            </a:r>
          </a:p>
        </p:txBody>
      </p:sp>
      <p:sp>
        <p:nvSpPr>
          <p:cNvPr id="7" name="">
            <a:extLst xmlns:a="http://schemas.openxmlformats.org/drawingml/2006/main">
              <a:ext uri="{FF2B5EF4-FFF2-40B4-BE49-F238E27FC236}">
                <a16:creationId xmlns:a16="http://schemas.microsoft.com/office/drawing/2014/main" id="{5377194C-1009-497E-B82A-0A5D5FBCA959}"/>
              </a:ext>
            </a:extLst>
          </p:cNvPr>
          <p:cNvSpPr>
            <a:spLocks xmlns:a="http://schemas.openxmlformats.org/drawingml/2006/main" noGrp="1"/>
          </p:cNvSpPr>
          <p:nvPr/>
        </p:nvSpPr>
        <p:spPr>
          <a:xfrm xmlns:a="http://schemas.openxmlformats.org/drawingml/2006/main">
            <a:off x="2924175" y="287655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2F80ED"/>
                </a:solidFill>
              </a:defRPr>
            </a:pPr>
            <a:r>
              <a:rPr sz="2550" b="1">
                <a:solidFill>
                  <a:srgbClr val="2F80ED"/>
                </a:solidFill>
              </a:rPr>
              <a:t>→</a:t>
            </a:r>
          </a:p>
        </p:txBody>
      </p:sp>
      <p:sp>
        <p:nvSpPr>
          <p:cNvPr id="8" name="">
            <a:extLst xmlns:a="http://schemas.openxmlformats.org/drawingml/2006/main">
              <a:ext uri="{FF2B5EF4-FFF2-40B4-BE49-F238E27FC236}">
                <a16:creationId xmlns:a16="http://schemas.microsoft.com/office/drawing/2014/main" id="{FF7BA1A4-FED1-41CF-9C7F-51F651FF457E}"/>
              </a:ext>
            </a:extLst>
          </p:cNvPr>
          <p:cNvSpPr>
            <a:spLocks xmlns:a="http://schemas.openxmlformats.org/drawingml/2006/main" noGrp="1"/>
          </p:cNvSpPr>
          <p:nvPr/>
        </p:nvSpPr>
        <p:spPr>
          <a:xfrm xmlns:a="http://schemas.openxmlformats.org/drawingml/2006/main">
            <a:off x="3429000" y="2038350"/>
            <a:ext cx="2247900" cy="2381250"/>
          </a:xfrm>
          <a:prstGeom xmlns:a="http://schemas.openxmlformats.org/drawingml/2006/main" prst="rect">
            <a:avLst/>
          </a:prstGeom>
          <a:solidFill xmlns:a="http://schemas.openxmlformats.org/drawingml/2006/main">
            <a:srgbClr val="EEF1F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5E21543-D29E-4DB8-B008-3AC1466F2052}"/>
              </a:ext>
            </a:extLst>
          </p:cNvPr>
          <p:cNvSpPr>
            <a:spLocks xmlns:a="http://schemas.openxmlformats.org/drawingml/2006/main" noGrp="1"/>
          </p:cNvSpPr>
          <p:nvPr/>
        </p:nvSpPr>
        <p:spPr>
          <a:xfrm xmlns:a="http://schemas.openxmlformats.org/drawingml/2006/main">
            <a:off x="3638550" y="22288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59616B"/>
                </a:solidFill>
              </a:defRPr>
            </a:pPr>
            <a:r>
              <a:rPr sz="1200" b="1">
                <a:solidFill>
                  <a:srgbClr val="59616B"/>
                </a:solidFill>
              </a:rPr>
              <a:t>2  INDEX</a:t>
            </a:r>
          </a:p>
        </p:txBody>
      </p:sp>
      <p:sp>
        <p:nvSpPr>
          <p:cNvPr id="10" name="">
            <a:extLst xmlns:a="http://schemas.openxmlformats.org/drawingml/2006/main">
              <a:ext uri="{FF2B5EF4-FFF2-40B4-BE49-F238E27FC236}">
                <a16:creationId xmlns:a16="http://schemas.microsoft.com/office/drawing/2014/main" id="{72939B56-370F-4A02-83D9-80DBB1257343}"/>
              </a:ext>
            </a:extLst>
          </p:cNvPr>
          <p:cNvSpPr>
            <a:spLocks xmlns:a="http://schemas.openxmlformats.org/drawingml/2006/main" noGrp="1"/>
          </p:cNvSpPr>
          <p:nvPr/>
        </p:nvSpPr>
        <p:spPr>
          <a:xfrm xmlns:a="http://schemas.openxmlformats.org/drawingml/2006/main">
            <a:off x="3638550" y="2800350"/>
            <a:ext cx="18288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01214"/>
                </a:solidFill>
              </a:defRPr>
            </a:pPr>
            <a:r>
              <a:rPr sz="1650" b="0">
                <a:solidFill>
                  <a:srgbClr val="101214"/>
                </a:solidFill>
              </a:rPr>
              <a:t>Extract, chunk, and embed content using local models.</a:t>
            </a:r>
          </a:p>
        </p:txBody>
      </p:sp>
      <p:sp>
        <p:nvSpPr>
          <p:cNvPr id="11" name="">
            <a:extLst xmlns:a="http://schemas.openxmlformats.org/drawingml/2006/main">
              <a:ext uri="{FF2B5EF4-FFF2-40B4-BE49-F238E27FC236}">
                <a16:creationId xmlns:a16="http://schemas.microsoft.com/office/drawing/2014/main" id="{975ACCDB-A194-499F-A0C7-25E85C5FBF82}"/>
              </a:ext>
            </a:extLst>
          </p:cNvPr>
          <p:cNvSpPr>
            <a:spLocks xmlns:a="http://schemas.openxmlformats.org/drawingml/2006/main" noGrp="1"/>
          </p:cNvSpPr>
          <p:nvPr/>
        </p:nvSpPr>
        <p:spPr>
          <a:xfrm xmlns:a="http://schemas.openxmlformats.org/drawingml/2006/main">
            <a:off x="5743575" y="287655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2F80ED"/>
                </a:solidFill>
              </a:defRPr>
            </a:pPr>
            <a:r>
              <a:rPr sz="2550" b="1">
                <a:solidFill>
                  <a:srgbClr val="2F80ED"/>
                </a:solidFill>
              </a:rPr>
              <a:t>→</a:t>
            </a:r>
          </a:p>
        </p:txBody>
      </p:sp>
      <p:sp>
        <p:nvSpPr>
          <p:cNvPr id="12" name="">
            <a:extLst xmlns:a="http://schemas.openxmlformats.org/drawingml/2006/main">
              <a:ext uri="{FF2B5EF4-FFF2-40B4-BE49-F238E27FC236}">
                <a16:creationId xmlns:a16="http://schemas.microsoft.com/office/drawing/2014/main" id="{04019C4B-9FEC-44B8-9778-50B251D4BE89}"/>
              </a:ext>
            </a:extLst>
          </p:cNvPr>
          <p:cNvSpPr>
            <a:spLocks xmlns:a="http://schemas.openxmlformats.org/drawingml/2006/main" noGrp="1"/>
          </p:cNvSpPr>
          <p:nvPr/>
        </p:nvSpPr>
        <p:spPr>
          <a:xfrm xmlns:a="http://schemas.openxmlformats.org/drawingml/2006/main">
            <a:off x="6248400" y="2038350"/>
            <a:ext cx="2247900" cy="2381250"/>
          </a:xfrm>
          <a:prstGeom xmlns:a="http://schemas.openxmlformats.org/drawingml/2006/main" prst="rect">
            <a:avLst/>
          </a:prstGeom>
          <a:solidFill xmlns:a="http://schemas.openxmlformats.org/drawingml/2006/main">
            <a:srgbClr val="EEF1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371D919-881E-4C76-B370-3F631A77D4B1}"/>
              </a:ext>
            </a:extLst>
          </p:cNvPr>
          <p:cNvSpPr>
            <a:spLocks xmlns:a="http://schemas.openxmlformats.org/drawingml/2006/main" noGrp="1"/>
          </p:cNvSpPr>
          <p:nvPr/>
        </p:nvSpPr>
        <p:spPr>
          <a:xfrm xmlns:a="http://schemas.openxmlformats.org/drawingml/2006/main">
            <a:off x="6457950" y="22288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59616B"/>
                </a:solidFill>
              </a:defRPr>
            </a:pPr>
            <a:r>
              <a:rPr sz="1200" b="1">
                <a:solidFill>
                  <a:srgbClr val="59616B"/>
                </a:solidFill>
              </a:rPr>
              <a:t>3  ASK</a:t>
            </a:r>
          </a:p>
        </p:txBody>
      </p:sp>
      <p:sp>
        <p:nvSpPr>
          <p:cNvPr id="14" name="">
            <a:extLst xmlns:a="http://schemas.openxmlformats.org/drawingml/2006/main">
              <a:ext uri="{FF2B5EF4-FFF2-40B4-BE49-F238E27FC236}">
                <a16:creationId xmlns:a16="http://schemas.microsoft.com/office/drawing/2014/main" id="{DEE74CAE-5B5D-4385-B8D8-4BD65EA8085B}"/>
              </a:ext>
            </a:extLst>
          </p:cNvPr>
          <p:cNvSpPr>
            <a:spLocks xmlns:a="http://schemas.openxmlformats.org/drawingml/2006/main" noGrp="1"/>
          </p:cNvSpPr>
          <p:nvPr/>
        </p:nvSpPr>
        <p:spPr>
          <a:xfrm xmlns:a="http://schemas.openxmlformats.org/drawingml/2006/main">
            <a:off x="6457950" y="2800350"/>
            <a:ext cx="18288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01214"/>
                </a:solidFill>
              </a:defRPr>
            </a:pPr>
            <a:r>
              <a:rPr sz="1650" b="0">
                <a:solidFill>
                  <a:srgbClr val="101214"/>
                </a:solidFill>
              </a:rPr>
              <a:t>Assigned students ask questions in a simple web interface.</a:t>
            </a:r>
          </a:p>
        </p:txBody>
      </p:sp>
      <p:sp>
        <p:nvSpPr>
          <p:cNvPr id="15" name="">
            <a:extLst xmlns:a="http://schemas.openxmlformats.org/drawingml/2006/main">
              <a:ext uri="{FF2B5EF4-FFF2-40B4-BE49-F238E27FC236}">
                <a16:creationId xmlns:a16="http://schemas.microsoft.com/office/drawing/2014/main" id="{BC3C252E-3F8B-43ED-B2CB-915E882666F8}"/>
              </a:ext>
            </a:extLst>
          </p:cNvPr>
          <p:cNvSpPr>
            <a:spLocks xmlns:a="http://schemas.openxmlformats.org/drawingml/2006/main" noGrp="1"/>
          </p:cNvSpPr>
          <p:nvPr/>
        </p:nvSpPr>
        <p:spPr>
          <a:xfrm xmlns:a="http://schemas.openxmlformats.org/drawingml/2006/main">
            <a:off x="8562975" y="287655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2F80ED"/>
                </a:solidFill>
              </a:defRPr>
            </a:pPr>
            <a:r>
              <a:rPr sz="2550" b="1">
                <a:solidFill>
                  <a:srgbClr val="2F80ED"/>
                </a:solidFill>
              </a:rPr>
              <a:t>→</a:t>
            </a:r>
          </a:p>
        </p:txBody>
      </p:sp>
      <p:sp>
        <p:nvSpPr>
          <p:cNvPr id="16" name="">
            <a:extLst xmlns:a="http://schemas.openxmlformats.org/drawingml/2006/main">
              <a:ext uri="{FF2B5EF4-FFF2-40B4-BE49-F238E27FC236}">
                <a16:creationId xmlns:a16="http://schemas.microsoft.com/office/drawing/2014/main" id="{9D4A5C3F-F89D-4E64-A054-D0726D90045A}"/>
              </a:ext>
            </a:extLst>
          </p:cNvPr>
          <p:cNvSpPr>
            <a:spLocks xmlns:a="http://schemas.openxmlformats.org/drawingml/2006/main" noGrp="1"/>
          </p:cNvSpPr>
          <p:nvPr/>
        </p:nvSpPr>
        <p:spPr>
          <a:xfrm xmlns:a="http://schemas.openxmlformats.org/drawingml/2006/main">
            <a:off x="9067800" y="2038350"/>
            <a:ext cx="2247900" cy="2381250"/>
          </a:xfrm>
          <a:prstGeom xmlns:a="http://schemas.openxmlformats.org/drawingml/2006/main" prst="rect">
            <a:avLst/>
          </a:prstGeom>
          <a:solidFill xmlns:a="http://schemas.openxmlformats.org/drawingml/2006/main">
            <a:srgbClr val="DDF4F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8EB0D11-0DB6-4BC9-810E-8B4555D3FE34}"/>
              </a:ext>
            </a:extLst>
          </p:cNvPr>
          <p:cNvSpPr>
            <a:spLocks xmlns:a="http://schemas.openxmlformats.org/drawingml/2006/main" noGrp="1"/>
          </p:cNvSpPr>
          <p:nvPr/>
        </p:nvSpPr>
        <p:spPr>
          <a:xfrm xmlns:a="http://schemas.openxmlformats.org/drawingml/2006/main">
            <a:off x="9277350" y="22288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F80ED"/>
                </a:solidFill>
              </a:defRPr>
            </a:pPr>
            <a:r>
              <a:rPr sz="1200" b="1">
                <a:solidFill>
                  <a:srgbClr val="2F80ED"/>
                </a:solidFill>
              </a:rPr>
              <a:t>4  ANSWER</a:t>
            </a:r>
          </a:p>
        </p:txBody>
      </p:sp>
      <p:sp>
        <p:nvSpPr>
          <p:cNvPr id="18" name="">
            <a:extLst xmlns:a="http://schemas.openxmlformats.org/drawingml/2006/main">
              <a:ext uri="{FF2B5EF4-FFF2-40B4-BE49-F238E27FC236}">
                <a16:creationId xmlns:a16="http://schemas.microsoft.com/office/drawing/2014/main" id="{A7118507-810B-4FEE-A176-08EE66B7892D}"/>
              </a:ext>
            </a:extLst>
          </p:cNvPr>
          <p:cNvSpPr>
            <a:spLocks xmlns:a="http://schemas.openxmlformats.org/drawingml/2006/main" noGrp="1"/>
          </p:cNvSpPr>
          <p:nvPr/>
        </p:nvSpPr>
        <p:spPr>
          <a:xfrm xmlns:a="http://schemas.openxmlformats.org/drawingml/2006/main">
            <a:off x="9277350" y="2800350"/>
            <a:ext cx="18288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01214"/>
                </a:solidFill>
              </a:defRPr>
            </a:pPr>
            <a:r>
              <a:rPr sz="1650" b="1">
                <a:solidFill>
                  <a:srgbClr val="101214"/>
                </a:solidFill>
              </a:rPr>
              <a:t>Generate a grounded response with references to source material.</a:t>
            </a:r>
          </a:p>
        </p:txBody>
      </p:sp>
      <p:sp>
        <p:nvSpPr>
          <p:cNvPr id="19" name="">
            <a:extLst xmlns:a="http://schemas.openxmlformats.org/drawingml/2006/main">
              <a:ext uri="{FF2B5EF4-FFF2-40B4-BE49-F238E27FC236}">
                <a16:creationId xmlns:a16="http://schemas.microsoft.com/office/drawing/2014/main" id="{9BF8AF4D-B3AC-4E89-B182-8E9D1053DCB3}"/>
              </a:ext>
            </a:extLst>
          </p:cNvPr>
          <p:cNvSpPr>
            <a:spLocks xmlns:a="http://schemas.openxmlformats.org/drawingml/2006/main" noGrp="1"/>
          </p:cNvSpPr>
          <p:nvPr/>
        </p:nvSpPr>
        <p:spPr>
          <a:xfrm xmlns:a="http://schemas.openxmlformats.org/drawingml/2006/main">
            <a:off x="1143000" y="49530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3B57"/>
                </a:solidFill>
              </a:defRPr>
            </a:pPr>
            <a:r>
              <a:rPr sz="1875" b="1">
                <a:solidFill>
                  <a:srgbClr val="173B57"/>
                </a:solidFill>
              </a:rPr>
              <a:t>One guided path connects administration, retrieval, and learning—without moving course data to a hosted AI service.</a:t>
            </a:r>
          </a:p>
        </p:txBody>
      </p:sp>
      <p:sp>
        <p:nvSpPr>
          <p:cNvPr id="20" name="">
            <a:extLst xmlns:a="http://schemas.openxmlformats.org/drawingml/2006/main">
              <a:ext uri="{FF2B5EF4-FFF2-40B4-BE49-F238E27FC236}">
                <a16:creationId xmlns:a16="http://schemas.microsoft.com/office/drawing/2014/main" id="{4CC4861E-F5F3-4DAB-B068-822B543C619D}"/>
              </a:ext>
            </a:extLst>
          </p:cNvPr>
          <p:cNvSpPr>
            <a:spLocks xmlns:a="http://schemas.openxmlformats.org/drawingml/2006/main" noGrp="1"/>
          </p:cNvSpPr>
          <p:nvPr/>
        </p:nvSpPr>
        <p:spPr>
          <a:xfrm xmlns:a="http://schemas.openxmlformats.org/drawingml/2006/main">
            <a:off x="5334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9616B"/>
                </a:solidFill>
              </a:defRPr>
            </a:pPr>
            <a:r>
              <a:rPr sz="750" b="1">
                <a:solidFill>
                  <a:srgbClr val="59616B"/>
                </a:solidFill>
              </a:rPr>
              <a:t>ARCHIVIST  •  LOCAL-FIRST AI FOR SCHOOLS</a:t>
            </a:r>
          </a:p>
        </p:txBody>
      </p:sp>
      <p:sp>
        <p:nvSpPr>
          <p:cNvPr id="21" name="">
            <a:extLst xmlns:a="http://schemas.openxmlformats.org/drawingml/2006/main">
              <a:ext uri="{FF2B5EF4-FFF2-40B4-BE49-F238E27FC236}">
                <a16:creationId xmlns:a16="http://schemas.microsoft.com/office/drawing/2014/main" id="{FA911931-6518-4C8C-99C3-BF5A857304A5}"/>
              </a:ext>
            </a:extLst>
          </p:cNvPr>
          <p:cNvSpPr>
            <a:spLocks xmlns:a="http://schemas.openxmlformats.org/drawingml/2006/main" noGrp="1"/>
          </p:cNvSpPr>
          <p:nvPr/>
        </p:nvSpPr>
        <p:spPr>
          <a:xfrm xmlns:a="http://schemas.openxmlformats.org/drawingml/2006/main">
            <a:off x="11049000" y="645795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9616B"/>
                </a:solidFill>
              </a:defRPr>
            </a:pPr>
            <a:r>
              <a:rPr sz="750" b="1">
                <a:solidFill>
                  <a:srgbClr val="59616B"/>
                </a:solidFill>
              </a:rPr>
              <a:t>03</a:t>
            </a:r>
          </a:p>
        </p:txBody>
      </p:sp>
    </p:spTree>
    <p:extLst>
      <p:ext uri="{BB962C8B-B14F-4D97-AF65-F5344CB8AC3E}">
        <p14:creationId xmlns:p14="http://schemas.microsoft.com/office/powerpoint/2010/main" val="1763797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57A19FC-C5D8-4C2C-9EB8-C958AA80EEF9}"/>
              </a:ext>
            </a:extLst>
          </p:cNvPr>
          <p:cNvSpPr>
            <a:spLocks xmlns:a="http://schemas.openxmlformats.org/drawingml/2006/main" noGrp="1"/>
          </p:cNvSpPr>
          <p:nvPr/>
        </p:nvSpPr>
        <p:spPr>
          <a:xfrm xmlns:a="http://schemas.openxmlformats.org/drawingml/2006/main">
            <a:off x="5334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59616B"/>
                </a:solidFill>
              </a:defRPr>
            </a:pPr>
            <a:r>
              <a:rPr sz="975" b="1">
                <a:solidFill>
                  <a:srgbClr val="59616B"/>
                </a:solidFill>
              </a:rPr>
              <a:t>METHODOLOGY</a:t>
            </a:r>
          </a:p>
        </p:txBody>
      </p:sp>
      <p:sp>
        <p:nvSpPr>
          <p:cNvPr id="2" name="">
            <a:extLst xmlns:a="http://schemas.openxmlformats.org/drawingml/2006/main">
              <a:ext uri="{FF2B5EF4-FFF2-40B4-BE49-F238E27FC236}">
                <a16:creationId xmlns:a16="http://schemas.microsoft.com/office/drawing/2014/main" id="{69FDFE8A-A072-42BB-AEE2-490EF439ADF1}"/>
              </a:ext>
            </a:extLst>
          </p:cNvPr>
          <p:cNvSpPr>
            <a:spLocks xmlns:a="http://schemas.openxmlformats.org/drawingml/2006/main" noGrp="1"/>
          </p:cNvSpPr>
          <p:nvPr/>
        </p:nvSpPr>
        <p:spPr>
          <a:xfrm xmlns:a="http://schemas.openxmlformats.org/drawingml/2006/main">
            <a:off x="533400" y="64770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01214"/>
                </a:solidFill>
              </a:defRPr>
            </a:pPr>
            <a:r>
              <a:rPr sz="2850" b="1">
                <a:solidFill>
                  <a:srgbClr val="101214"/>
                </a:solidFill>
              </a:rPr>
              <a:t>The evaluation separated retrieval value from tuning</a:t>
            </a:r>
          </a:p>
        </p:txBody>
      </p:sp>
      <p:sp>
        <p:nvSpPr>
          <p:cNvPr id="3" name="">
            <a:extLst xmlns:a="http://schemas.openxmlformats.org/drawingml/2006/main">
              <a:ext uri="{FF2B5EF4-FFF2-40B4-BE49-F238E27FC236}">
                <a16:creationId xmlns:a16="http://schemas.microsoft.com/office/drawing/2014/main" id="{447FF529-65E5-4679-A2B6-7569816ACB09}"/>
              </a:ext>
            </a:extLst>
          </p:cNvPr>
          <p:cNvSpPr>
            <a:spLocks xmlns:a="http://schemas.openxmlformats.org/drawingml/2006/main" noGrp="1"/>
          </p:cNvSpPr>
          <p:nvPr/>
        </p:nvSpPr>
        <p:spPr>
          <a:xfrm xmlns:a="http://schemas.openxmlformats.org/drawingml/2006/main">
            <a:off x="533400" y="1390650"/>
            <a:ext cx="11125200" cy="19050"/>
          </a:xfrm>
          <a:prstGeom xmlns:a="http://schemas.openxmlformats.org/drawingml/2006/main" prst="rect">
            <a:avLst/>
          </a:prstGeom>
          <a:solidFill xmlns:a="http://schemas.openxmlformats.org/drawingml/2006/main">
            <a:srgbClr val="10121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455D76E-198A-4103-9848-87B56C1ADC27}"/>
              </a:ext>
            </a:extLst>
          </p:cNvPr>
          <p:cNvSpPr>
            <a:spLocks xmlns:a="http://schemas.openxmlformats.org/drawingml/2006/main" noGrp="1"/>
          </p:cNvSpPr>
          <p:nvPr/>
        </p:nvSpPr>
        <p:spPr>
          <a:xfrm xmlns:a="http://schemas.openxmlformats.org/drawingml/2006/main">
            <a:off x="533400" y="18097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BASELINE STUDY</a:t>
            </a:r>
          </a:p>
        </p:txBody>
      </p:sp>
      <p:sp>
        <p:nvSpPr>
          <p:cNvPr id="5" name="">
            <a:extLst xmlns:a="http://schemas.openxmlformats.org/drawingml/2006/main">
              <a:ext uri="{FF2B5EF4-FFF2-40B4-BE49-F238E27FC236}">
                <a16:creationId xmlns:a16="http://schemas.microsoft.com/office/drawing/2014/main" id="{DACA0D53-69E1-4280-8376-BDA0D902387B}"/>
              </a:ext>
            </a:extLst>
          </p:cNvPr>
          <p:cNvSpPr>
            <a:spLocks xmlns:a="http://schemas.openxmlformats.org/drawingml/2006/main" noGrp="1"/>
          </p:cNvSpPr>
          <p:nvPr/>
        </p:nvSpPr>
        <p:spPr>
          <a:xfrm xmlns:a="http://schemas.openxmlformats.org/drawingml/2006/main">
            <a:off x="533400" y="2238375"/>
            <a:ext cx="342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101214"/>
                </a:solidFill>
              </a:defRPr>
            </a:pPr>
            <a:r>
              <a:rPr sz="2325" b="1">
                <a:solidFill>
                  <a:srgbClr val="101214"/>
                </a:solidFill>
              </a:rPr>
              <a:t>15 versioned questions</a:t>
            </a:r>
          </a:p>
        </p:txBody>
      </p:sp>
      <p:sp>
        <p:nvSpPr>
          <p:cNvPr id="6" name="">
            <a:extLst xmlns:a="http://schemas.openxmlformats.org/drawingml/2006/main">
              <a:ext uri="{FF2B5EF4-FFF2-40B4-BE49-F238E27FC236}">
                <a16:creationId xmlns:a16="http://schemas.microsoft.com/office/drawing/2014/main" id="{2CA85C67-DCED-40C6-9C8A-7AD56722B5C3}"/>
              </a:ext>
            </a:extLst>
          </p:cNvPr>
          <p:cNvSpPr>
            <a:spLocks xmlns:a="http://schemas.openxmlformats.org/drawingml/2006/main" noGrp="1"/>
          </p:cNvSpPr>
          <p:nvPr/>
        </p:nvSpPr>
        <p:spPr>
          <a:xfrm xmlns:a="http://schemas.openxmlformats.org/drawingml/2006/main">
            <a:off x="533400" y="2819400"/>
            <a:ext cx="44767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01214"/>
                </a:solidFill>
              </a:defRPr>
            </a:pPr>
            <a:r>
              <a:rPr sz="1500" b="0">
                <a:solidFill>
                  <a:srgbClr val="101214"/>
                </a:solidFill>
              </a:rPr>
              <a:t>Compared no-RAG and RAG answers with manual correctness scoring, groundedness, retrieval hits, hallucination handling, and latency.</a:t>
            </a:r>
          </a:p>
        </p:txBody>
      </p:sp>
      <p:sp>
        <p:nvSpPr>
          <p:cNvPr id="7" name="">
            <a:extLst xmlns:a="http://schemas.openxmlformats.org/drawingml/2006/main">
              <a:ext uri="{FF2B5EF4-FFF2-40B4-BE49-F238E27FC236}">
                <a16:creationId xmlns:a16="http://schemas.microsoft.com/office/drawing/2014/main" id="{A4A1DADD-75D2-42CE-AA8E-F5FF65BAFB8D}"/>
              </a:ext>
            </a:extLst>
          </p:cNvPr>
          <p:cNvSpPr>
            <a:spLocks xmlns:a="http://schemas.openxmlformats.org/drawingml/2006/main" noGrp="1"/>
          </p:cNvSpPr>
          <p:nvPr/>
        </p:nvSpPr>
        <p:spPr>
          <a:xfrm xmlns:a="http://schemas.openxmlformats.org/drawingml/2006/main">
            <a:off x="5810250" y="1733550"/>
            <a:ext cx="19050" cy="3638550"/>
          </a:xfrm>
          <a:prstGeom xmlns:a="http://schemas.openxmlformats.org/drawingml/2006/main" prst="rect">
            <a:avLst/>
          </a:prstGeom>
          <a:solidFill xmlns:a="http://schemas.openxmlformats.org/drawingml/2006/main">
            <a:srgbClr val="BCC3C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D303F40-4F8C-4B41-86FD-8CAD6E4A4CFB}"/>
              </a:ext>
            </a:extLst>
          </p:cNvPr>
          <p:cNvSpPr>
            <a:spLocks xmlns:a="http://schemas.openxmlformats.org/drawingml/2006/main" noGrp="1"/>
          </p:cNvSpPr>
          <p:nvPr/>
        </p:nvSpPr>
        <p:spPr>
          <a:xfrm xmlns:a="http://schemas.openxmlformats.org/drawingml/2006/main">
            <a:off x="6400800" y="1809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OPTIMIZATION STUDY</a:t>
            </a:r>
          </a:p>
        </p:txBody>
      </p:sp>
      <p:sp>
        <p:nvSpPr>
          <p:cNvPr id="9" name="">
            <a:extLst xmlns:a="http://schemas.openxmlformats.org/drawingml/2006/main">
              <a:ext uri="{FF2B5EF4-FFF2-40B4-BE49-F238E27FC236}">
                <a16:creationId xmlns:a16="http://schemas.microsoft.com/office/drawing/2014/main" id="{9BB2B029-FF6A-4FD3-9DB2-759660C18FF7}"/>
              </a:ext>
            </a:extLst>
          </p:cNvPr>
          <p:cNvSpPr>
            <a:spLocks xmlns:a="http://schemas.openxmlformats.org/drawingml/2006/main" noGrp="1"/>
          </p:cNvSpPr>
          <p:nvPr/>
        </p:nvSpPr>
        <p:spPr>
          <a:xfrm xmlns:a="http://schemas.openxmlformats.org/drawingml/2006/main">
            <a:off x="6400800" y="2238375"/>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101214"/>
                </a:solidFill>
              </a:defRPr>
            </a:pPr>
            <a:r>
              <a:rPr sz="2325" b="1">
                <a:solidFill>
                  <a:srgbClr val="101214"/>
                </a:solidFill>
              </a:rPr>
              <a:t>6 RAG configurations</a:t>
            </a:r>
          </a:p>
        </p:txBody>
      </p:sp>
      <p:sp>
        <p:nvSpPr>
          <p:cNvPr id="10" name="">
            <a:extLst xmlns:a="http://schemas.openxmlformats.org/drawingml/2006/main">
              <a:ext uri="{FF2B5EF4-FFF2-40B4-BE49-F238E27FC236}">
                <a16:creationId xmlns:a16="http://schemas.microsoft.com/office/drawing/2014/main" id="{C2538BC0-1C86-4219-A897-6FE7DEC4AFE3}"/>
              </a:ext>
            </a:extLst>
          </p:cNvPr>
          <p:cNvSpPr>
            <a:spLocks xmlns:a="http://schemas.openxmlformats.org/drawingml/2006/main" noGrp="1"/>
          </p:cNvSpPr>
          <p:nvPr/>
        </p:nvSpPr>
        <p:spPr>
          <a:xfrm xmlns:a="http://schemas.openxmlformats.org/drawingml/2006/main">
            <a:off x="6400800" y="2819400"/>
            <a:ext cx="44767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01214"/>
                </a:solidFill>
              </a:defRPr>
            </a:pPr>
            <a:r>
              <a:rPr sz="1500" b="0">
                <a:solidFill>
                  <a:srgbClr val="101214"/>
                </a:solidFill>
              </a:rPr>
              <a:t>Varied chunk size, overlap, and top-k while holding the same question set and using a project-specific quality–speed selection score.</a:t>
            </a:r>
          </a:p>
        </p:txBody>
      </p:sp>
      <p:sp>
        <p:nvSpPr>
          <p:cNvPr id="11" name="">
            <a:extLst xmlns:a="http://schemas.openxmlformats.org/drawingml/2006/main">
              <a:ext uri="{FF2B5EF4-FFF2-40B4-BE49-F238E27FC236}">
                <a16:creationId xmlns:a16="http://schemas.microsoft.com/office/drawing/2014/main" id="{42A00638-2546-4827-BAC2-66341F14103C}"/>
              </a:ext>
            </a:extLst>
          </p:cNvPr>
          <p:cNvSpPr>
            <a:spLocks xmlns:a="http://schemas.openxmlformats.org/drawingml/2006/main" noGrp="1"/>
          </p:cNvSpPr>
          <p:nvPr/>
        </p:nvSpPr>
        <p:spPr>
          <a:xfrm xmlns:a="http://schemas.openxmlformats.org/drawingml/2006/main">
            <a:off x="533400" y="4762500"/>
            <a:ext cx="10363200" cy="552450"/>
          </a:xfrm>
          <a:prstGeom xmlns:a="http://schemas.openxmlformats.org/drawingml/2006/main" prst="rect">
            <a:avLst/>
          </a:prstGeom>
          <a:solidFill xmlns:a="http://schemas.openxmlformats.org/drawingml/2006/main">
            <a:srgbClr val="FFF3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26B60FA-4744-4D8D-9248-CF9FA27874C1}"/>
              </a:ext>
            </a:extLst>
          </p:cNvPr>
          <p:cNvSpPr>
            <a:spLocks xmlns:a="http://schemas.openxmlformats.org/drawingml/2006/main" noGrp="1"/>
          </p:cNvSpPr>
          <p:nvPr/>
        </p:nvSpPr>
        <p:spPr>
          <a:xfrm xmlns:a="http://schemas.openxmlformats.org/drawingml/2006/main">
            <a:off x="723900" y="4867275"/>
            <a:ext cx="998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97706"/>
                </a:solidFill>
              </a:defRPr>
            </a:pPr>
            <a:r>
              <a:rPr sz="1350" b="1">
                <a:solidFill>
                  <a:srgbClr val="D97706"/>
                </a:solidFill>
              </a:rPr>
              <a:t>Scope: a small initial benchmark—not a statistical or production-scale validation.</a:t>
            </a:r>
          </a:p>
        </p:txBody>
      </p:sp>
      <p:sp>
        <p:nvSpPr>
          <p:cNvPr id="13" name="">
            <a:extLst xmlns:a="http://schemas.openxmlformats.org/drawingml/2006/main">
              <a:ext uri="{FF2B5EF4-FFF2-40B4-BE49-F238E27FC236}">
                <a16:creationId xmlns:a16="http://schemas.microsoft.com/office/drawing/2014/main" id="{79A9E28F-925D-4A86-9A55-2E8644FE020D}"/>
              </a:ext>
            </a:extLst>
          </p:cNvPr>
          <p:cNvSpPr>
            <a:spLocks xmlns:a="http://schemas.openxmlformats.org/drawingml/2006/main" noGrp="1"/>
          </p:cNvSpPr>
          <p:nvPr/>
        </p:nvSpPr>
        <p:spPr>
          <a:xfrm xmlns:a="http://schemas.openxmlformats.org/drawingml/2006/main">
            <a:off x="5334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9616B"/>
                </a:solidFill>
              </a:defRPr>
            </a:pPr>
            <a:r>
              <a:rPr sz="750" b="1">
                <a:solidFill>
                  <a:srgbClr val="59616B"/>
                </a:solidFill>
              </a:rPr>
              <a:t>ARCHIVIST  •  LOCAL-FIRST AI FOR SCHOOLS</a:t>
            </a:r>
          </a:p>
        </p:txBody>
      </p:sp>
      <p:sp>
        <p:nvSpPr>
          <p:cNvPr id="14" name="">
            <a:extLst xmlns:a="http://schemas.openxmlformats.org/drawingml/2006/main">
              <a:ext uri="{FF2B5EF4-FFF2-40B4-BE49-F238E27FC236}">
                <a16:creationId xmlns:a16="http://schemas.microsoft.com/office/drawing/2014/main" id="{8DB311A3-3CE1-4E41-98F5-E53989FE950C}"/>
              </a:ext>
            </a:extLst>
          </p:cNvPr>
          <p:cNvSpPr>
            <a:spLocks xmlns:a="http://schemas.openxmlformats.org/drawingml/2006/main" noGrp="1"/>
          </p:cNvSpPr>
          <p:nvPr/>
        </p:nvSpPr>
        <p:spPr>
          <a:xfrm xmlns:a="http://schemas.openxmlformats.org/drawingml/2006/main">
            <a:off x="11049000" y="645795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9616B"/>
                </a:solidFill>
              </a:defRPr>
            </a:pPr>
            <a:r>
              <a:rPr sz="750" b="1">
                <a:solidFill>
                  <a:srgbClr val="59616B"/>
                </a:solidFill>
              </a:rPr>
              <a:t>04</a:t>
            </a:r>
          </a:p>
        </p:txBody>
      </p:sp>
    </p:spTree>
    <p:extLst>
      <p:ext uri="{BB962C8B-B14F-4D97-AF65-F5344CB8AC3E}">
        <p14:creationId xmlns:p14="http://schemas.microsoft.com/office/powerpoint/2010/main" val="6022175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E7F77C9-E739-4CA9-ACCF-87CA326D2510}"/>
              </a:ext>
            </a:extLst>
          </p:cNvPr>
          <p:cNvSpPr>
            <a:spLocks xmlns:a="http://schemas.openxmlformats.org/drawingml/2006/main" noGrp="1"/>
          </p:cNvSpPr>
          <p:nvPr/>
        </p:nvSpPr>
        <p:spPr>
          <a:xfrm xmlns:a="http://schemas.openxmlformats.org/drawingml/2006/main">
            <a:off x="5334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59616B"/>
                </a:solidFill>
              </a:defRPr>
            </a:pPr>
            <a:r>
              <a:rPr sz="975" b="1">
                <a:solidFill>
                  <a:srgbClr val="59616B"/>
                </a:solidFill>
              </a:rPr>
              <a:t>BASELINE RESULTS</a:t>
            </a:r>
          </a:p>
        </p:txBody>
      </p:sp>
      <p:sp>
        <p:nvSpPr>
          <p:cNvPr id="2" name="">
            <a:extLst xmlns:a="http://schemas.openxmlformats.org/drawingml/2006/main">
              <a:ext uri="{FF2B5EF4-FFF2-40B4-BE49-F238E27FC236}">
                <a16:creationId xmlns:a16="http://schemas.microsoft.com/office/drawing/2014/main" id="{D10E82ED-5D4D-4244-9FCD-D9D85FDDE204}"/>
              </a:ext>
            </a:extLst>
          </p:cNvPr>
          <p:cNvSpPr>
            <a:spLocks xmlns:a="http://schemas.openxmlformats.org/drawingml/2006/main" noGrp="1"/>
          </p:cNvSpPr>
          <p:nvPr/>
        </p:nvSpPr>
        <p:spPr>
          <a:xfrm xmlns:a="http://schemas.openxmlformats.org/drawingml/2006/main">
            <a:off x="533400" y="64770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01214"/>
                </a:solidFill>
              </a:defRPr>
            </a:pPr>
            <a:r>
              <a:rPr sz="2850" b="1">
                <a:solidFill>
                  <a:srgbClr val="101214"/>
                </a:solidFill>
              </a:rPr>
              <a:t>Grounding raised answer correctness by 30 percentage points</a:t>
            </a:r>
          </a:p>
        </p:txBody>
      </p:sp>
      <p:sp>
        <p:nvSpPr>
          <p:cNvPr id="3" name="">
            <a:extLst xmlns:a="http://schemas.openxmlformats.org/drawingml/2006/main">
              <a:ext uri="{FF2B5EF4-FFF2-40B4-BE49-F238E27FC236}">
                <a16:creationId xmlns:a16="http://schemas.microsoft.com/office/drawing/2014/main" id="{80EFD69B-B80C-4FFC-BD5A-62D5D94C5C61}"/>
              </a:ext>
            </a:extLst>
          </p:cNvPr>
          <p:cNvSpPr>
            <a:spLocks xmlns:a="http://schemas.openxmlformats.org/drawingml/2006/main" noGrp="1"/>
          </p:cNvSpPr>
          <p:nvPr/>
        </p:nvSpPr>
        <p:spPr>
          <a:xfrm xmlns:a="http://schemas.openxmlformats.org/drawingml/2006/main">
            <a:off x="533400" y="1390650"/>
            <a:ext cx="11125200" cy="19050"/>
          </a:xfrm>
          <a:prstGeom xmlns:a="http://schemas.openxmlformats.org/drawingml/2006/main" prst="rect">
            <a:avLst/>
          </a:prstGeom>
          <a:solidFill xmlns:a="http://schemas.openxmlformats.org/drawingml/2006/main">
            <a:srgbClr val="10121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F626A8-1D00-44D8-9E55-6435DCA8BC37}"/>
              </a:ext>
            </a:extLst>
          </p:cNvPr>
          <p:cNvSpPr>
            <a:spLocks xmlns:a="http://schemas.openxmlformats.org/drawingml/2006/main" noGrp="1"/>
          </p:cNvSpPr>
          <p:nvPr/>
        </p:nvSpPr>
        <p:spPr>
          <a:xfrm xmlns:a="http://schemas.openxmlformats.org/drawingml/2006/main">
            <a:off x="723900" y="1828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59616B"/>
                </a:solidFill>
              </a:defRPr>
            </a:pPr>
            <a:r>
              <a:rPr sz="1200" b="1">
                <a:solidFill>
                  <a:srgbClr val="59616B"/>
                </a:solidFill>
              </a:rPr>
              <a:t>NO RETRIEVAL</a:t>
            </a:r>
          </a:p>
        </p:txBody>
      </p:sp>
      <p:sp>
        <p:nvSpPr>
          <p:cNvPr id="5" name="">
            <a:extLst xmlns:a="http://schemas.openxmlformats.org/drawingml/2006/main">
              <a:ext uri="{FF2B5EF4-FFF2-40B4-BE49-F238E27FC236}">
                <a16:creationId xmlns:a16="http://schemas.microsoft.com/office/drawing/2014/main" id="{F5BE020F-BDD8-4250-9E3E-7BDC1EB2E315}"/>
              </a:ext>
            </a:extLst>
          </p:cNvPr>
          <p:cNvSpPr>
            <a:spLocks xmlns:a="http://schemas.openxmlformats.org/drawingml/2006/main" noGrp="1"/>
          </p:cNvSpPr>
          <p:nvPr/>
        </p:nvSpPr>
        <p:spPr>
          <a:xfrm xmlns:a="http://schemas.openxmlformats.org/drawingml/2006/main">
            <a:off x="723900" y="2190750"/>
            <a:ext cx="342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800" b="1">
                <a:solidFill>
                  <a:srgbClr val="101214"/>
                </a:solidFill>
              </a:defRPr>
            </a:pPr>
            <a:r>
              <a:rPr sz="4800" b="1">
                <a:solidFill>
                  <a:srgbClr val="101214"/>
                </a:solidFill>
              </a:rPr>
              <a:t>63.3%</a:t>
            </a:r>
          </a:p>
        </p:txBody>
      </p:sp>
      <p:sp>
        <p:nvSpPr>
          <p:cNvPr id="6" name="">
            <a:extLst xmlns:a="http://schemas.openxmlformats.org/drawingml/2006/main">
              <a:ext uri="{FF2B5EF4-FFF2-40B4-BE49-F238E27FC236}">
                <a16:creationId xmlns:a16="http://schemas.microsoft.com/office/drawing/2014/main" id="{EAABEC8E-82D9-4669-8032-CC51DD46F489}"/>
              </a:ext>
            </a:extLst>
          </p:cNvPr>
          <p:cNvSpPr>
            <a:spLocks xmlns:a="http://schemas.openxmlformats.org/drawingml/2006/main" noGrp="1"/>
          </p:cNvSpPr>
          <p:nvPr/>
        </p:nvSpPr>
        <p:spPr>
          <a:xfrm xmlns:a="http://schemas.openxmlformats.org/drawingml/2006/main">
            <a:off x="723900" y="31051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59616B"/>
                </a:solidFill>
              </a:defRPr>
            </a:pPr>
            <a:r>
              <a:rPr sz="1500" b="0">
                <a:solidFill>
                  <a:srgbClr val="59616B"/>
                </a:solidFill>
              </a:rPr>
              <a:t>correctness</a:t>
            </a:r>
          </a:p>
        </p:txBody>
      </p:sp>
      <p:sp>
        <p:nvSpPr>
          <p:cNvPr id="7" name="">
            <a:extLst xmlns:a="http://schemas.openxmlformats.org/drawingml/2006/main">
              <a:ext uri="{FF2B5EF4-FFF2-40B4-BE49-F238E27FC236}">
                <a16:creationId xmlns:a16="http://schemas.microsoft.com/office/drawing/2014/main" id="{D1FDB434-FF4E-4F74-B9DA-82C29244D842}"/>
              </a:ext>
            </a:extLst>
          </p:cNvPr>
          <p:cNvSpPr>
            <a:spLocks xmlns:a="http://schemas.openxmlformats.org/drawingml/2006/main" noGrp="1"/>
          </p:cNvSpPr>
          <p:nvPr/>
        </p:nvSpPr>
        <p:spPr>
          <a:xfrm xmlns:a="http://schemas.openxmlformats.org/drawingml/2006/main">
            <a:off x="4476750" y="2409825"/>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2F80ED"/>
                </a:solidFill>
              </a:defRPr>
            </a:pPr>
            <a:r>
              <a:rPr sz="2700" b="1">
                <a:solidFill>
                  <a:srgbClr val="2F80ED"/>
                </a:solidFill>
              </a:rPr>
              <a:t>+30.0 pts</a:t>
            </a:r>
          </a:p>
        </p:txBody>
      </p:sp>
      <p:sp>
        <p:nvSpPr>
          <p:cNvPr id="8" name="">
            <a:extLst xmlns:a="http://schemas.openxmlformats.org/drawingml/2006/main">
              <a:ext uri="{FF2B5EF4-FFF2-40B4-BE49-F238E27FC236}">
                <a16:creationId xmlns:a16="http://schemas.microsoft.com/office/drawing/2014/main" id="{3B2B807E-DBA4-400D-8565-B994C482DD3A}"/>
              </a:ext>
            </a:extLst>
          </p:cNvPr>
          <p:cNvSpPr>
            <a:spLocks xmlns:a="http://schemas.openxmlformats.org/drawingml/2006/main" noGrp="1"/>
          </p:cNvSpPr>
          <p:nvPr/>
        </p:nvSpPr>
        <p:spPr>
          <a:xfrm xmlns:a="http://schemas.openxmlformats.org/drawingml/2006/main">
            <a:off x="8039100" y="1828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59616B"/>
                </a:solidFill>
              </a:defRPr>
            </a:pPr>
            <a:r>
              <a:rPr sz="1200" b="1">
                <a:solidFill>
                  <a:srgbClr val="59616B"/>
                </a:solidFill>
              </a:rPr>
              <a:t>WITH RETRIEVAL</a:t>
            </a:r>
          </a:p>
        </p:txBody>
      </p:sp>
      <p:sp>
        <p:nvSpPr>
          <p:cNvPr id="9" name="">
            <a:extLst xmlns:a="http://schemas.openxmlformats.org/drawingml/2006/main">
              <a:ext uri="{FF2B5EF4-FFF2-40B4-BE49-F238E27FC236}">
                <a16:creationId xmlns:a16="http://schemas.microsoft.com/office/drawing/2014/main" id="{2C260465-FAB9-4AC0-A92D-F669C2619DF8}"/>
              </a:ext>
            </a:extLst>
          </p:cNvPr>
          <p:cNvSpPr>
            <a:spLocks xmlns:a="http://schemas.openxmlformats.org/drawingml/2006/main" noGrp="1"/>
          </p:cNvSpPr>
          <p:nvPr/>
        </p:nvSpPr>
        <p:spPr>
          <a:xfrm xmlns:a="http://schemas.openxmlformats.org/drawingml/2006/main">
            <a:off x="8039100" y="2190750"/>
            <a:ext cx="342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800" b="1">
                <a:solidFill>
                  <a:srgbClr val="2F80ED"/>
                </a:solidFill>
              </a:defRPr>
            </a:pPr>
            <a:r>
              <a:rPr sz="4800" b="1">
                <a:solidFill>
                  <a:srgbClr val="2F80ED"/>
                </a:solidFill>
              </a:rPr>
              <a:t>93.3%</a:t>
            </a:r>
          </a:p>
        </p:txBody>
      </p:sp>
      <p:sp>
        <p:nvSpPr>
          <p:cNvPr id="10" name="">
            <a:extLst xmlns:a="http://schemas.openxmlformats.org/drawingml/2006/main">
              <a:ext uri="{FF2B5EF4-FFF2-40B4-BE49-F238E27FC236}">
                <a16:creationId xmlns:a16="http://schemas.microsoft.com/office/drawing/2014/main" id="{03E929BE-8338-4EBC-BB1E-83AB2803245D}"/>
              </a:ext>
            </a:extLst>
          </p:cNvPr>
          <p:cNvSpPr>
            <a:spLocks xmlns:a="http://schemas.openxmlformats.org/drawingml/2006/main" noGrp="1"/>
          </p:cNvSpPr>
          <p:nvPr/>
        </p:nvSpPr>
        <p:spPr>
          <a:xfrm xmlns:a="http://schemas.openxmlformats.org/drawingml/2006/main">
            <a:off x="8039100" y="31051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59616B"/>
                </a:solidFill>
              </a:defRPr>
            </a:pPr>
            <a:r>
              <a:rPr sz="1500" b="0">
                <a:solidFill>
                  <a:srgbClr val="59616B"/>
                </a:solidFill>
              </a:rPr>
              <a:t>correctness</a:t>
            </a:r>
          </a:p>
        </p:txBody>
      </p:sp>
      <p:sp>
        <p:nvSpPr>
          <p:cNvPr id="11" name="">
            <a:extLst xmlns:a="http://schemas.openxmlformats.org/drawingml/2006/main">
              <a:ext uri="{FF2B5EF4-FFF2-40B4-BE49-F238E27FC236}">
                <a16:creationId xmlns:a16="http://schemas.microsoft.com/office/drawing/2014/main" id="{B48B88B0-DAD7-450E-8AB3-96F8958E8A5D}"/>
              </a:ext>
            </a:extLst>
          </p:cNvPr>
          <p:cNvSpPr>
            <a:spLocks xmlns:a="http://schemas.openxmlformats.org/drawingml/2006/main" noGrp="1"/>
          </p:cNvSpPr>
          <p:nvPr/>
        </p:nvSpPr>
        <p:spPr>
          <a:xfrm xmlns:a="http://schemas.openxmlformats.org/drawingml/2006/main">
            <a:off x="1181100" y="4000500"/>
            <a:ext cx="9829800" cy="19050"/>
          </a:xfrm>
          <a:prstGeom xmlns:a="http://schemas.openxmlformats.org/drawingml/2006/main" prst="rect">
            <a:avLst/>
          </a:prstGeom>
          <a:solidFill xmlns:a="http://schemas.openxmlformats.org/drawingml/2006/main">
            <a:srgbClr val="BCC3C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F577874-0E43-48CF-A1FE-38E20B5B0C66}"/>
              </a:ext>
            </a:extLst>
          </p:cNvPr>
          <p:cNvSpPr>
            <a:spLocks xmlns:a="http://schemas.openxmlformats.org/drawingml/2006/main" noGrp="1"/>
          </p:cNvSpPr>
          <p:nvPr/>
        </p:nvSpPr>
        <p:spPr>
          <a:xfrm xmlns:a="http://schemas.openxmlformats.org/drawingml/2006/main">
            <a:off x="876300" y="436245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173B57"/>
                </a:solidFill>
              </a:defRPr>
            </a:pPr>
            <a:r>
              <a:rPr sz="2550" b="1">
                <a:solidFill>
                  <a:srgbClr val="173B57"/>
                </a:solidFill>
              </a:rPr>
              <a:t>100%</a:t>
            </a:r>
          </a:p>
        </p:txBody>
      </p:sp>
      <p:sp>
        <p:nvSpPr>
          <p:cNvPr id="13" name="">
            <a:extLst xmlns:a="http://schemas.openxmlformats.org/drawingml/2006/main">
              <a:ext uri="{FF2B5EF4-FFF2-40B4-BE49-F238E27FC236}">
                <a16:creationId xmlns:a16="http://schemas.microsoft.com/office/drawing/2014/main" id="{B248357B-AB94-4D0B-8514-90C2646929B0}"/>
              </a:ext>
            </a:extLst>
          </p:cNvPr>
          <p:cNvSpPr>
            <a:spLocks xmlns:a="http://schemas.openxmlformats.org/drawingml/2006/main" noGrp="1"/>
          </p:cNvSpPr>
          <p:nvPr/>
        </p:nvSpPr>
        <p:spPr>
          <a:xfrm xmlns:a="http://schemas.openxmlformats.org/drawingml/2006/main">
            <a:off x="876300" y="49530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9616B"/>
                </a:solidFill>
              </a:defRPr>
            </a:pPr>
            <a:r>
              <a:rPr sz="1275" b="0">
                <a:solidFill>
                  <a:srgbClr val="59616B"/>
                </a:solidFill>
              </a:rPr>
              <a:t>Retrieval Hit Rate@3</a:t>
            </a:r>
          </a:p>
        </p:txBody>
      </p:sp>
      <p:sp>
        <p:nvSpPr>
          <p:cNvPr id="14" name="">
            <a:extLst xmlns:a="http://schemas.openxmlformats.org/drawingml/2006/main">
              <a:ext uri="{FF2B5EF4-FFF2-40B4-BE49-F238E27FC236}">
                <a16:creationId xmlns:a16="http://schemas.microsoft.com/office/drawing/2014/main" id="{2F54F360-B5F5-4289-9AC0-16328C8BCE04}"/>
              </a:ext>
            </a:extLst>
          </p:cNvPr>
          <p:cNvSpPr>
            <a:spLocks xmlns:a="http://schemas.openxmlformats.org/drawingml/2006/main" noGrp="1"/>
          </p:cNvSpPr>
          <p:nvPr/>
        </p:nvSpPr>
        <p:spPr>
          <a:xfrm xmlns:a="http://schemas.openxmlformats.org/drawingml/2006/main">
            <a:off x="4552950" y="436245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2F80ED"/>
                </a:solidFill>
              </a:defRPr>
            </a:pPr>
            <a:r>
              <a:rPr sz="2550" b="1">
                <a:solidFill>
                  <a:srgbClr val="2F80ED"/>
                </a:solidFill>
              </a:rPr>
              <a:t>0.93</a:t>
            </a:r>
          </a:p>
        </p:txBody>
      </p:sp>
      <p:sp>
        <p:nvSpPr>
          <p:cNvPr id="15" name="">
            <a:extLst xmlns:a="http://schemas.openxmlformats.org/drawingml/2006/main">
              <a:ext uri="{FF2B5EF4-FFF2-40B4-BE49-F238E27FC236}">
                <a16:creationId xmlns:a16="http://schemas.microsoft.com/office/drawing/2014/main" id="{D87228A4-2D86-481D-BD1B-852AA55ECA03}"/>
              </a:ext>
            </a:extLst>
          </p:cNvPr>
          <p:cNvSpPr>
            <a:spLocks xmlns:a="http://schemas.openxmlformats.org/drawingml/2006/main" noGrp="1"/>
          </p:cNvSpPr>
          <p:nvPr/>
        </p:nvSpPr>
        <p:spPr>
          <a:xfrm xmlns:a="http://schemas.openxmlformats.org/drawingml/2006/main">
            <a:off x="4552950" y="49530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9616B"/>
                </a:solidFill>
              </a:defRPr>
            </a:pPr>
            <a:r>
              <a:rPr sz="1275" b="0">
                <a:solidFill>
                  <a:srgbClr val="59616B"/>
                </a:solidFill>
              </a:rPr>
              <a:t>Average groundedness</a:t>
            </a:r>
          </a:p>
        </p:txBody>
      </p:sp>
      <p:sp>
        <p:nvSpPr>
          <p:cNvPr id="16" name="">
            <a:extLst xmlns:a="http://schemas.openxmlformats.org/drawingml/2006/main">
              <a:ext uri="{FF2B5EF4-FFF2-40B4-BE49-F238E27FC236}">
                <a16:creationId xmlns:a16="http://schemas.microsoft.com/office/drawing/2014/main" id="{9942C086-5BEA-4BBA-99F5-FE91CC1EB6AC}"/>
              </a:ext>
            </a:extLst>
          </p:cNvPr>
          <p:cNvSpPr>
            <a:spLocks xmlns:a="http://schemas.openxmlformats.org/drawingml/2006/main" noGrp="1"/>
          </p:cNvSpPr>
          <p:nvPr/>
        </p:nvSpPr>
        <p:spPr>
          <a:xfrm xmlns:a="http://schemas.openxmlformats.org/drawingml/2006/main">
            <a:off x="8229600" y="436245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173B57"/>
                </a:solidFill>
              </a:defRPr>
            </a:pPr>
            <a:r>
              <a:rPr sz="2550" b="1">
                <a:solidFill>
                  <a:srgbClr val="173B57"/>
                </a:solidFill>
              </a:rPr>
              <a:t>100%</a:t>
            </a:r>
          </a:p>
        </p:txBody>
      </p:sp>
      <p:sp>
        <p:nvSpPr>
          <p:cNvPr id="17" name="">
            <a:extLst xmlns:a="http://schemas.openxmlformats.org/drawingml/2006/main">
              <a:ext uri="{FF2B5EF4-FFF2-40B4-BE49-F238E27FC236}">
                <a16:creationId xmlns:a16="http://schemas.microsoft.com/office/drawing/2014/main" id="{8EC5EB7D-A43F-41AD-B930-241946459B20}"/>
              </a:ext>
            </a:extLst>
          </p:cNvPr>
          <p:cNvSpPr>
            <a:spLocks xmlns:a="http://schemas.openxmlformats.org/drawingml/2006/main" noGrp="1"/>
          </p:cNvSpPr>
          <p:nvPr/>
        </p:nvSpPr>
        <p:spPr>
          <a:xfrm xmlns:a="http://schemas.openxmlformats.org/drawingml/2006/main">
            <a:off x="8229600" y="49530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9616B"/>
                </a:solidFill>
              </a:defRPr>
            </a:pPr>
            <a:r>
              <a:rPr sz="1275" b="0">
                <a:solidFill>
                  <a:srgbClr val="59616B"/>
                </a:solidFill>
              </a:rPr>
              <a:t>Unanswerable-question handling</a:t>
            </a:r>
          </a:p>
        </p:txBody>
      </p:sp>
      <p:sp>
        <p:nvSpPr>
          <p:cNvPr id="18" name="">
            <a:extLst xmlns:a="http://schemas.openxmlformats.org/drawingml/2006/main">
              <a:ext uri="{FF2B5EF4-FFF2-40B4-BE49-F238E27FC236}">
                <a16:creationId xmlns:a16="http://schemas.microsoft.com/office/drawing/2014/main" id="{2BAC023D-F38A-4F3C-AB66-52E116689EF7}"/>
              </a:ext>
            </a:extLst>
          </p:cNvPr>
          <p:cNvSpPr>
            <a:spLocks xmlns:a="http://schemas.openxmlformats.org/drawingml/2006/main" noGrp="1"/>
          </p:cNvSpPr>
          <p:nvPr/>
        </p:nvSpPr>
        <p:spPr>
          <a:xfrm xmlns:a="http://schemas.openxmlformats.org/drawingml/2006/main">
            <a:off x="5334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9616B"/>
                </a:solidFill>
              </a:defRPr>
            </a:pPr>
            <a:r>
              <a:rPr sz="750" b="1">
                <a:solidFill>
                  <a:srgbClr val="59616B"/>
                </a:solidFill>
              </a:rPr>
              <a:t>ARCHIVIST  •  LOCAL-FIRST AI FOR SCHOOLS</a:t>
            </a:r>
          </a:p>
        </p:txBody>
      </p:sp>
      <p:sp>
        <p:nvSpPr>
          <p:cNvPr id="19" name="">
            <a:extLst xmlns:a="http://schemas.openxmlformats.org/drawingml/2006/main">
              <a:ext uri="{FF2B5EF4-FFF2-40B4-BE49-F238E27FC236}">
                <a16:creationId xmlns:a16="http://schemas.microsoft.com/office/drawing/2014/main" id="{7A25987B-FCBF-45AD-B184-0FE8DA469A2F}"/>
              </a:ext>
            </a:extLst>
          </p:cNvPr>
          <p:cNvSpPr>
            <a:spLocks xmlns:a="http://schemas.openxmlformats.org/drawingml/2006/main" noGrp="1"/>
          </p:cNvSpPr>
          <p:nvPr/>
        </p:nvSpPr>
        <p:spPr>
          <a:xfrm xmlns:a="http://schemas.openxmlformats.org/drawingml/2006/main">
            <a:off x="11049000" y="645795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9616B"/>
                </a:solidFill>
              </a:defRPr>
            </a:pPr>
            <a:r>
              <a:rPr sz="750" b="1">
                <a:solidFill>
                  <a:srgbClr val="59616B"/>
                </a:solidFill>
              </a:rPr>
              <a:t>05</a:t>
            </a:r>
          </a:p>
        </p:txBody>
      </p:sp>
    </p:spTree>
    <p:extLst>
      <p:ext uri="{BB962C8B-B14F-4D97-AF65-F5344CB8AC3E}">
        <p14:creationId xmlns:p14="http://schemas.microsoft.com/office/powerpoint/2010/main" val="2977137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7043ECD-827B-4DCE-84D3-0D3690358980}"/>
              </a:ext>
            </a:extLst>
          </p:cNvPr>
          <p:cNvSpPr>
            <a:spLocks xmlns:a="http://schemas.openxmlformats.org/drawingml/2006/main" noGrp="1"/>
          </p:cNvSpPr>
          <p:nvPr/>
        </p:nvSpPr>
        <p:spPr>
          <a:xfrm xmlns:a="http://schemas.openxmlformats.org/drawingml/2006/main">
            <a:off x="5334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59616B"/>
                </a:solidFill>
              </a:defRPr>
            </a:pPr>
            <a:r>
              <a:rPr sz="975" b="1">
                <a:solidFill>
                  <a:srgbClr val="59616B"/>
                </a:solidFill>
              </a:rPr>
              <a:t>OPTIMIZATION RESULTS</a:t>
            </a:r>
          </a:p>
        </p:txBody>
      </p:sp>
      <p:sp>
        <p:nvSpPr>
          <p:cNvPr id="2" name="">
            <a:extLst xmlns:a="http://schemas.openxmlformats.org/drawingml/2006/main">
              <a:ext uri="{FF2B5EF4-FFF2-40B4-BE49-F238E27FC236}">
                <a16:creationId xmlns:a16="http://schemas.microsoft.com/office/drawing/2014/main" id="{D64DA949-1045-47BD-B51B-5219134A7295}"/>
              </a:ext>
            </a:extLst>
          </p:cNvPr>
          <p:cNvSpPr>
            <a:spLocks xmlns:a="http://schemas.openxmlformats.org/drawingml/2006/main" noGrp="1"/>
          </p:cNvSpPr>
          <p:nvPr/>
        </p:nvSpPr>
        <p:spPr>
          <a:xfrm xmlns:a="http://schemas.openxmlformats.org/drawingml/2006/main">
            <a:off x="533400" y="64770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01214"/>
                </a:solidFill>
              </a:defRPr>
            </a:pPr>
            <a:r>
              <a:rPr sz="2850" b="1">
                <a:solidFill>
                  <a:srgbClr val="101214"/>
                </a:solidFill>
              </a:rPr>
              <a:t>Tuning improved quality and cut mean latency 43%</a:t>
            </a:r>
          </a:p>
        </p:txBody>
      </p:sp>
      <p:sp>
        <p:nvSpPr>
          <p:cNvPr id="3" name="">
            <a:extLst xmlns:a="http://schemas.openxmlformats.org/drawingml/2006/main">
              <a:ext uri="{FF2B5EF4-FFF2-40B4-BE49-F238E27FC236}">
                <a16:creationId xmlns:a16="http://schemas.microsoft.com/office/drawing/2014/main" id="{BD72A4F8-A757-4561-A469-C3827D0B474A}"/>
              </a:ext>
            </a:extLst>
          </p:cNvPr>
          <p:cNvSpPr>
            <a:spLocks xmlns:a="http://schemas.openxmlformats.org/drawingml/2006/main" noGrp="1"/>
          </p:cNvSpPr>
          <p:nvPr/>
        </p:nvSpPr>
        <p:spPr>
          <a:xfrm xmlns:a="http://schemas.openxmlformats.org/drawingml/2006/main">
            <a:off x="533400" y="1390650"/>
            <a:ext cx="11125200" cy="19050"/>
          </a:xfrm>
          <a:prstGeom xmlns:a="http://schemas.openxmlformats.org/drawingml/2006/main" prst="rect">
            <a:avLst/>
          </a:prstGeom>
          <a:solidFill xmlns:a="http://schemas.openxmlformats.org/drawingml/2006/main">
            <a:srgbClr val="101214"/>
          </a:solidFill>
          <a:ln xmlns:a="http://schemas.openxmlformats.org/drawingml/2006/main" w="0">
            <a:no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aa1d0c0844d4166"/>
          <a:stretch xmlns:a="http://schemas.openxmlformats.org/drawingml/2006/main"/>
        </p:blipFill>
        <p:spPr>
          <a:xfrm xmlns:a="http://schemas.openxmlformats.org/drawingml/2006/main">
            <a:off x="1000125" y="1638300"/>
            <a:ext cx="5734050" cy="4095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113E147-34FE-4314-A15C-5742676988DD}"/>
              </a:ext>
            </a:extLst>
          </p:cNvPr>
          <p:cNvSpPr>
            <a:spLocks xmlns:a="http://schemas.openxmlformats.org/drawingml/2006/main" noGrp="1"/>
          </p:cNvSpPr>
          <p:nvPr/>
        </p:nvSpPr>
        <p:spPr>
          <a:xfrm xmlns:a="http://schemas.openxmlformats.org/drawingml/2006/main">
            <a:off x="7715250" y="17716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F80ED"/>
                </a:solidFill>
              </a:defRPr>
            </a:pPr>
            <a:r>
              <a:rPr sz="1200" b="1">
                <a:solidFill>
                  <a:srgbClr val="2F80ED"/>
                </a:solidFill>
              </a:rPr>
              <a:t>SELECTED</a:t>
            </a:r>
          </a:p>
        </p:txBody>
      </p:sp>
      <p:sp>
        <p:nvSpPr>
          <p:cNvPr id="6" name="">
            <a:extLst xmlns:a="http://schemas.openxmlformats.org/drawingml/2006/main">
              <a:ext uri="{FF2B5EF4-FFF2-40B4-BE49-F238E27FC236}">
                <a16:creationId xmlns:a16="http://schemas.microsoft.com/office/drawing/2014/main" id="{0C5857E5-2DEA-48ED-ABEC-B6C38A1A2195}"/>
              </a:ext>
            </a:extLst>
          </p:cNvPr>
          <p:cNvSpPr>
            <a:spLocks xmlns:a="http://schemas.openxmlformats.org/drawingml/2006/main" noGrp="1"/>
          </p:cNvSpPr>
          <p:nvPr/>
        </p:nvSpPr>
        <p:spPr>
          <a:xfrm xmlns:a="http://schemas.openxmlformats.org/drawingml/2006/main">
            <a:off x="7715250" y="211455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101214"/>
                </a:solidFill>
              </a:defRPr>
            </a:pPr>
            <a:r>
              <a:rPr sz="2400" b="1">
                <a:solidFill>
                  <a:srgbClr val="101214"/>
                </a:solidFill>
              </a:rPr>
              <a:t>top-k = 1</a:t>
            </a:r>
          </a:p>
        </p:txBody>
      </p:sp>
      <p:sp>
        <p:nvSpPr>
          <p:cNvPr id="7" name="">
            <a:extLst xmlns:a="http://schemas.openxmlformats.org/drawingml/2006/main">
              <a:ext uri="{FF2B5EF4-FFF2-40B4-BE49-F238E27FC236}">
                <a16:creationId xmlns:a16="http://schemas.microsoft.com/office/drawing/2014/main" id="{495B6225-876F-4C49-9F7B-12688F1451CA}"/>
              </a:ext>
            </a:extLst>
          </p:cNvPr>
          <p:cNvSpPr>
            <a:spLocks xmlns:a="http://schemas.openxmlformats.org/drawingml/2006/main" noGrp="1"/>
          </p:cNvSpPr>
          <p:nvPr/>
        </p:nvSpPr>
        <p:spPr>
          <a:xfrm xmlns:a="http://schemas.openxmlformats.org/drawingml/2006/main">
            <a:off x="7715250" y="2819400"/>
            <a:ext cx="3333750" cy="19050"/>
          </a:xfrm>
          <a:prstGeom xmlns:a="http://schemas.openxmlformats.org/drawingml/2006/main" prst="rect">
            <a:avLst/>
          </a:prstGeom>
          <a:solidFill xmlns:a="http://schemas.openxmlformats.org/drawingml/2006/main">
            <a:srgbClr val="BCC3C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AE8AFB0-F13E-4DCF-B242-A064DF510639}"/>
              </a:ext>
            </a:extLst>
          </p:cNvPr>
          <p:cNvSpPr>
            <a:spLocks xmlns:a="http://schemas.openxmlformats.org/drawingml/2006/main" noGrp="1"/>
          </p:cNvSpPr>
          <p:nvPr/>
        </p:nvSpPr>
        <p:spPr>
          <a:xfrm xmlns:a="http://schemas.openxmlformats.org/drawingml/2006/main">
            <a:off x="7715250" y="3048000"/>
            <a:ext cx="152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2F80ED"/>
                </a:solidFill>
              </a:defRPr>
            </a:pPr>
            <a:r>
              <a:rPr sz="2550" b="1">
                <a:solidFill>
                  <a:srgbClr val="2F80ED"/>
                </a:solidFill>
              </a:rPr>
              <a:t>96.7%</a:t>
            </a:r>
          </a:p>
        </p:txBody>
      </p:sp>
      <p:sp>
        <p:nvSpPr>
          <p:cNvPr id="9" name="">
            <a:extLst xmlns:a="http://schemas.openxmlformats.org/drawingml/2006/main">
              <a:ext uri="{FF2B5EF4-FFF2-40B4-BE49-F238E27FC236}">
                <a16:creationId xmlns:a16="http://schemas.microsoft.com/office/drawing/2014/main" id="{B25CEBDF-53E9-4E44-A74B-D312E8B04B6F}"/>
              </a:ext>
            </a:extLst>
          </p:cNvPr>
          <p:cNvSpPr>
            <a:spLocks xmlns:a="http://schemas.openxmlformats.org/drawingml/2006/main" noGrp="1"/>
          </p:cNvSpPr>
          <p:nvPr/>
        </p:nvSpPr>
        <p:spPr>
          <a:xfrm xmlns:a="http://schemas.openxmlformats.org/drawingml/2006/main">
            <a:off x="7715250" y="3562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9616B"/>
                </a:solidFill>
              </a:defRPr>
            </a:pPr>
            <a:r>
              <a:rPr sz="1200" b="0">
                <a:solidFill>
                  <a:srgbClr val="59616B"/>
                </a:solidFill>
              </a:rPr>
              <a:t>correctness</a:t>
            </a:r>
          </a:p>
        </p:txBody>
      </p:sp>
      <p:sp>
        <p:nvSpPr>
          <p:cNvPr id="10" name="">
            <a:extLst xmlns:a="http://schemas.openxmlformats.org/drawingml/2006/main">
              <a:ext uri="{FF2B5EF4-FFF2-40B4-BE49-F238E27FC236}">
                <a16:creationId xmlns:a16="http://schemas.microsoft.com/office/drawing/2014/main" id="{CA109B23-B50D-4B05-A9B8-23D49DEB2F95}"/>
              </a:ext>
            </a:extLst>
          </p:cNvPr>
          <p:cNvSpPr>
            <a:spLocks xmlns:a="http://schemas.openxmlformats.org/drawingml/2006/main" noGrp="1"/>
          </p:cNvSpPr>
          <p:nvPr/>
        </p:nvSpPr>
        <p:spPr>
          <a:xfrm xmlns:a="http://schemas.openxmlformats.org/drawingml/2006/main">
            <a:off x="9525000" y="3048000"/>
            <a:ext cx="152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73B57"/>
                </a:solidFill>
              </a:defRPr>
            </a:pPr>
            <a:r>
              <a:rPr sz="2550" b="1">
                <a:solidFill>
                  <a:srgbClr val="173B57"/>
                </a:solidFill>
              </a:rPr>
              <a:t>1.07 s</a:t>
            </a:r>
          </a:p>
        </p:txBody>
      </p:sp>
      <p:sp>
        <p:nvSpPr>
          <p:cNvPr id="11" name="">
            <a:extLst xmlns:a="http://schemas.openxmlformats.org/drawingml/2006/main">
              <a:ext uri="{FF2B5EF4-FFF2-40B4-BE49-F238E27FC236}">
                <a16:creationId xmlns:a16="http://schemas.microsoft.com/office/drawing/2014/main" id="{5C184C37-B7A1-4673-855E-14ABDA0C1585}"/>
              </a:ext>
            </a:extLst>
          </p:cNvPr>
          <p:cNvSpPr>
            <a:spLocks xmlns:a="http://schemas.openxmlformats.org/drawingml/2006/main" noGrp="1"/>
          </p:cNvSpPr>
          <p:nvPr/>
        </p:nvSpPr>
        <p:spPr>
          <a:xfrm xmlns:a="http://schemas.openxmlformats.org/drawingml/2006/main">
            <a:off x="9525000" y="3562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9616B"/>
                </a:solidFill>
              </a:defRPr>
            </a:pPr>
            <a:r>
              <a:rPr sz="1200" b="0">
                <a:solidFill>
                  <a:srgbClr val="59616B"/>
                </a:solidFill>
              </a:rPr>
              <a:t>mean response</a:t>
            </a:r>
          </a:p>
        </p:txBody>
      </p:sp>
      <p:sp>
        <p:nvSpPr>
          <p:cNvPr id="12" name="">
            <a:extLst xmlns:a="http://schemas.openxmlformats.org/drawingml/2006/main">
              <a:ext uri="{FF2B5EF4-FFF2-40B4-BE49-F238E27FC236}">
                <a16:creationId xmlns:a16="http://schemas.microsoft.com/office/drawing/2014/main" id="{AB2CC4D6-3829-431A-921D-35C8D97DCD8F}"/>
              </a:ext>
            </a:extLst>
          </p:cNvPr>
          <p:cNvSpPr>
            <a:spLocks xmlns:a="http://schemas.openxmlformats.org/drawingml/2006/main" noGrp="1"/>
          </p:cNvSpPr>
          <p:nvPr/>
        </p:nvSpPr>
        <p:spPr>
          <a:xfrm xmlns:a="http://schemas.openxmlformats.org/drawingml/2006/main">
            <a:off x="7715250" y="4171950"/>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01214"/>
                </a:solidFill>
              </a:defRPr>
            </a:pPr>
            <a:r>
              <a:rPr sz="1650" b="1">
                <a:solidFill>
                  <a:srgbClr val="101214"/>
                </a:solidFill>
              </a:rPr>
              <a:t>Versus baseline: +3.3 correctness points and −0.81 seconds.</a:t>
            </a:r>
          </a:p>
        </p:txBody>
      </p:sp>
      <p:sp>
        <p:nvSpPr>
          <p:cNvPr id="13" name="">
            <a:extLst xmlns:a="http://schemas.openxmlformats.org/drawingml/2006/main">
              <a:ext uri="{FF2B5EF4-FFF2-40B4-BE49-F238E27FC236}">
                <a16:creationId xmlns:a16="http://schemas.microsoft.com/office/drawing/2014/main" id="{CDCC8F78-2F46-4210-9E7C-EF6963EA06AC}"/>
              </a:ext>
            </a:extLst>
          </p:cNvPr>
          <p:cNvSpPr>
            <a:spLocks xmlns:a="http://schemas.openxmlformats.org/drawingml/2006/main" noGrp="1"/>
          </p:cNvSpPr>
          <p:nvPr/>
        </p:nvSpPr>
        <p:spPr>
          <a:xfrm xmlns:a="http://schemas.openxmlformats.org/drawingml/2006/main">
            <a:off x="7715250" y="5124450"/>
            <a:ext cx="3333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9616B"/>
                </a:solidFill>
              </a:defRPr>
            </a:pPr>
            <a:r>
              <a:rPr sz="1200" b="0">
                <a:solidFill>
                  <a:srgbClr val="59616B"/>
                </a:solidFill>
              </a:rPr>
              <a:t>Smaller chunks reached 100% correctness, but the selection score favored top-k 1 for its stronger quality–speed balance.</a:t>
            </a:r>
          </a:p>
        </p:txBody>
      </p:sp>
      <p:sp>
        <p:nvSpPr>
          <p:cNvPr id="14" name="">
            <a:extLst xmlns:a="http://schemas.openxmlformats.org/drawingml/2006/main">
              <a:ext uri="{FF2B5EF4-FFF2-40B4-BE49-F238E27FC236}">
                <a16:creationId xmlns:a16="http://schemas.microsoft.com/office/drawing/2014/main" id="{49C0953E-F4BE-475A-8150-08C503D7D138}"/>
              </a:ext>
            </a:extLst>
          </p:cNvPr>
          <p:cNvSpPr>
            <a:spLocks xmlns:a="http://schemas.openxmlformats.org/drawingml/2006/main" noGrp="1"/>
          </p:cNvSpPr>
          <p:nvPr/>
        </p:nvSpPr>
        <p:spPr>
          <a:xfrm xmlns:a="http://schemas.openxmlformats.org/drawingml/2006/main">
            <a:off x="5334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9616B"/>
                </a:solidFill>
              </a:defRPr>
            </a:pPr>
            <a:r>
              <a:rPr sz="750" b="1">
                <a:solidFill>
                  <a:srgbClr val="59616B"/>
                </a:solidFill>
              </a:rPr>
              <a:t>ARCHIVIST  •  LOCAL-FIRST AI FOR SCHOOLS</a:t>
            </a:r>
          </a:p>
        </p:txBody>
      </p:sp>
      <p:sp>
        <p:nvSpPr>
          <p:cNvPr id="15" name="">
            <a:extLst xmlns:a="http://schemas.openxmlformats.org/drawingml/2006/main">
              <a:ext uri="{FF2B5EF4-FFF2-40B4-BE49-F238E27FC236}">
                <a16:creationId xmlns:a16="http://schemas.microsoft.com/office/drawing/2014/main" id="{12B7BD5F-953D-44E9-89A9-D57F9C91003F}"/>
              </a:ext>
            </a:extLst>
          </p:cNvPr>
          <p:cNvSpPr>
            <a:spLocks xmlns:a="http://schemas.openxmlformats.org/drawingml/2006/main" noGrp="1"/>
          </p:cNvSpPr>
          <p:nvPr/>
        </p:nvSpPr>
        <p:spPr>
          <a:xfrm xmlns:a="http://schemas.openxmlformats.org/drawingml/2006/main">
            <a:off x="11049000" y="645795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9616B"/>
                </a:solidFill>
              </a:defRPr>
            </a:pPr>
            <a:r>
              <a:rPr sz="750" b="1">
                <a:solidFill>
                  <a:srgbClr val="59616B"/>
                </a:solidFill>
              </a:rPr>
              <a:t>06</a:t>
            </a:r>
          </a:p>
        </p:txBody>
      </p:sp>
    </p:spTree>
    <p:extLst>
      <p:ext uri="{BB962C8B-B14F-4D97-AF65-F5344CB8AC3E}">
        <p14:creationId xmlns:p14="http://schemas.microsoft.com/office/powerpoint/2010/main" val="12708994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428BD2-383D-44B5-9FE8-F27EE7EAE230}"/>
              </a:ext>
            </a:extLst>
          </p:cNvPr>
          <p:cNvSpPr>
            <a:spLocks xmlns:a="http://schemas.openxmlformats.org/drawingml/2006/main" noGrp="1"/>
          </p:cNvSpPr>
          <p:nvPr/>
        </p:nvSpPr>
        <p:spPr>
          <a:xfrm xmlns:a="http://schemas.openxmlformats.org/drawingml/2006/main">
            <a:off x="5334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59616B"/>
                </a:solidFill>
              </a:defRPr>
            </a:pPr>
            <a:r>
              <a:rPr sz="975" b="1">
                <a:solidFill>
                  <a:srgbClr val="59616B"/>
                </a:solidFill>
              </a:rPr>
              <a:t>INTERPRETATION</a:t>
            </a:r>
          </a:p>
        </p:txBody>
      </p:sp>
      <p:sp>
        <p:nvSpPr>
          <p:cNvPr id="2" name="">
            <a:extLst xmlns:a="http://schemas.openxmlformats.org/drawingml/2006/main">
              <a:ext uri="{FF2B5EF4-FFF2-40B4-BE49-F238E27FC236}">
                <a16:creationId xmlns:a16="http://schemas.microsoft.com/office/drawing/2014/main" id="{FB24DCD2-FA99-4407-8835-B64B4CDB9EB6}"/>
              </a:ext>
            </a:extLst>
          </p:cNvPr>
          <p:cNvSpPr>
            <a:spLocks xmlns:a="http://schemas.openxmlformats.org/drawingml/2006/main" noGrp="1"/>
          </p:cNvSpPr>
          <p:nvPr/>
        </p:nvSpPr>
        <p:spPr>
          <a:xfrm xmlns:a="http://schemas.openxmlformats.org/drawingml/2006/main">
            <a:off x="533400" y="64770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01214"/>
                </a:solidFill>
              </a:defRPr>
            </a:pPr>
            <a:r>
              <a:rPr sz="2850" b="1">
                <a:solidFill>
                  <a:srgbClr val="101214"/>
                </a:solidFill>
              </a:rPr>
              <a:t>The MVP validates the technical path—not usability</a:t>
            </a:r>
          </a:p>
        </p:txBody>
      </p:sp>
      <p:sp>
        <p:nvSpPr>
          <p:cNvPr id="3" name="">
            <a:extLst xmlns:a="http://schemas.openxmlformats.org/drawingml/2006/main">
              <a:ext uri="{FF2B5EF4-FFF2-40B4-BE49-F238E27FC236}">
                <a16:creationId xmlns:a16="http://schemas.microsoft.com/office/drawing/2014/main" id="{811AEF06-4415-4BEE-AFC8-90EE6DC40BBF}"/>
              </a:ext>
            </a:extLst>
          </p:cNvPr>
          <p:cNvSpPr>
            <a:spLocks xmlns:a="http://schemas.openxmlformats.org/drawingml/2006/main" noGrp="1"/>
          </p:cNvSpPr>
          <p:nvPr/>
        </p:nvSpPr>
        <p:spPr>
          <a:xfrm xmlns:a="http://schemas.openxmlformats.org/drawingml/2006/main">
            <a:off x="533400" y="1390650"/>
            <a:ext cx="11125200" cy="19050"/>
          </a:xfrm>
          <a:prstGeom xmlns:a="http://schemas.openxmlformats.org/drawingml/2006/main" prst="rect">
            <a:avLst/>
          </a:prstGeom>
          <a:solidFill xmlns:a="http://schemas.openxmlformats.org/drawingml/2006/main">
            <a:srgbClr val="10121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C4A686-B6EA-4C8C-86DA-26FFD370A5EC}"/>
              </a:ext>
            </a:extLst>
          </p:cNvPr>
          <p:cNvSpPr>
            <a:spLocks xmlns:a="http://schemas.openxmlformats.org/drawingml/2006/main" noGrp="1"/>
          </p:cNvSpPr>
          <p:nvPr/>
        </p:nvSpPr>
        <p:spPr>
          <a:xfrm xmlns:a="http://schemas.openxmlformats.org/drawingml/2006/main">
            <a:off x="533400" y="17526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F80ED"/>
                </a:solidFill>
              </a:defRPr>
            </a:pPr>
            <a:r>
              <a:rPr sz="1275" b="1">
                <a:solidFill>
                  <a:srgbClr val="2F80ED"/>
                </a:solidFill>
              </a:rPr>
              <a:t>WHAT THE RESULTS SUPPORT</a:t>
            </a:r>
          </a:p>
        </p:txBody>
      </p:sp>
      <p:sp>
        <p:nvSpPr>
          <p:cNvPr id="5" name="">
            <a:extLst xmlns:a="http://schemas.openxmlformats.org/drawingml/2006/main">
              <a:ext uri="{FF2B5EF4-FFF2-40B4-BE49-F238E27FC236}">
                <a16:creationId xmlns:a16="http://schemas.microsoft.com/office/drawing/2014/main" id="{826DA4E9-46B0-4F1A-91D4-7B7A5D4EDD86}"/>
              </a:ext>
            </a:extLst>
          </p:cNvPr>
          <p:cNvSpPr>
            <a:spLocks xmlns:a="http://schemas.openxmlformats.org/drawingml/2006/main" noGrp="1"/>
          </p:cNvSpPr>
          <p:nvPr/>
        </p:nvSpPr>
        <p:spPr>
          <a:xfrm xmlns:a="http://schemas.openxmlformats.org/drawingml/2006/main">
            <a:off x="533400" y="2171700"/>
            <a:ext cx="4857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01214"/>
                </a:solidFill>
              </a:defRPr>
            </a:pPr>
            <a:r>
              <a:rPr sz="1725" b="0">
                <a:solidFill>
                  <a:srgbClr val="101214"/>
                </a:solidFill>
              </a:rPr>
              <a:t>Retrieval makes local answers substantially more reliable on the project test set.</a:t>
            </a:r>
          </a:p>
          <a:p xmlns:a="http://schemas.openxmlformats.org/drawingml/2006/main">
            <a:r>
              <a:t/>
            </a:r>
          </a:p>
          <a:p xmlns:a="http://schemas.openxmlformats.org/drawingml/2006/main">
            <a:pPr algn="l">
              <a:defRPr sz="1725" b="0">
                <a:solidFill>
                  <a:srgbClr val="101214"/>
                </a:solidFill>
              </a:defRPr>
            </a:pPr>
            <a:r>
              <a:rPr sz="1725" b="0">
                <a:solidFill>
                  <a:srgbClr val="101214"/>
                </a:solidFill>
              </a:rPr>
              <a:t>Careful tuning can reduce context and latency without sacrificing quality.</a:t>
            </a:r>
          </a:p>
          <a:p xmlns:a="http://schemas.openxmlformats.org/drawingml/2006/main">
            <a:r>
              <a:t/>
            </a:r>
          </a:p>
          <a:p xmlns:a="http://schemas.openxmlformats.org/drawingml/2006/main">
            <a:pPr algn="l">
              <a:defRPr sz="1725" b="0">
                <a:solidFill>
                  <a:srgbClr val="101214"/>
                </a:solidFill>
              </a:defRPr>
            </a:pPr>
            <a:r>
              <a:rPr sz="1725" b="0">
                <a:solidFill>
                  <a:srgbClr val="101214"/>
                </a:solidFill>
              </a:rPr>
              <a:t>A guided local workflow is feasible as a deployable educational MVP.</a:t>
            </a:r>
          </a:p>
        </p:txBody>
      </p:sp>
      <p:sp>
        <p:nvSpPr>
          <p:cNvPr id="6" name="">
            <a:extLst xmlns:a="http://schemas.openxmlformats.org/drawingml/2006/main">
              <a:ext uri="{FF2B5EF4-FFF2-40B4-BE49-F238E27FC236}">
                <a16:creationId xmlns:a16="http://schemas.microsoft.com/office/drawing/2014/main" id="{CBC5FA49-CC21-4D5F-AA72-18575D0AF9EF}"/>
              </a:ext>
            </a:extLst>
          </p:cNvPr>
          <p:cNvSpPr>
            <a:spLocks xmlns:a="http://schemas.openxmlformats.org/drawingml/2006/main" noGrp="1"/>
          </p:cNvSpPr>
          <p:nvPr/>
        </p:nvSpPr>
        <p:spPr>
          <a:xfrm xmlns:a="http://schemas.openxmlformats.org/drawingml/2006/main">
            <a:off x="5905500" y="1676400"/>
            <a:ext cx="19050" cy="3848100"/>
          </a:xfrm>
          <a:prstGeom xmlns:a="http://schemas.openxmlformats.org/drawingml/2006/main" prst="rect">
            <a:avLst/>
          </a:prstGeom>
          <a:solidFill xmlns:a="http://schemas.openxmlformats.org/drawingml/2006/main">
            <a:srgbClr val="BCC3C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3CF6BA-F11B-4741-9D67-777B8A512474}"/>
              </a:ext>
            </a:extLst>
          </p:cNvPr>
          <p:cNvSpPr>
            <a:spLocks xmlns:a="http://schemas.openxmlformats.org/drawingml/2006/main" noGrp="1"/>
          </p:cNvSpPr>
          <p:nvPr/>
        </p:nvSpPr>
        <p:spPr>
          <a:xfrm xmlns:a="http://schemas.openxmlformats.org/drawingml/2006/main">
            <a:off x="6515100" y="17526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D97706"/>
                </a:solidFill>
              </a:defRPr>
            </a:pPr>
            <a:r>
              <a:rPr sz="1275" b="1">
                <a:solidFill>
                  <a:srgbClr val="D97706"/>
                </a:solidFill>
              </a:rPr>
              <a:t>WHAT THEY DO NOT YET PROVE</a:t>
            </a:r>
          </a:p>
        </p:txBody>
      </p:sp>
      <p:sp>
        <p:nvSpPr>
          <p:cNvPr id="8" name="">
            <a:extLst xmlns:a="http://schemas.openxmlformats.org/drawingml/2006/main">
              <a:ext uri="{FF2B5EF4-FFF2-40B4-BE49-F238E27FC236}">
                <a16:creationId xmlns:a16="http://schemas.microsoft.com/office/drawing/2014/main" id="{D3ADDF2E-5C5B-478E-B7C8-BADA455126E7}"/>
              </a:ext>
            </a:extLst>
          </p:cNvPr>
          <p:cNvSpPr>
            <a:spLocks xmlns:a="http://schemas.openxmlformats.org/drawingml/2006/main" noGrp="1"/>
          </p:cNvSpPr>
          <p:nvPr/>
        </p:nvSpPr>
        <p:spPr>
          <a:xfrm xmlns:a="http://schemas.openxmlformats.org/drawingml/2006/main">
            <a:off x="6515100" y="2171700"/>
            <a:ext cx="4857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01214"/>
                </a:solidFill>
              </a:defRPr>
            </a:pPr>
            <a:r>
              <a:rPr sz="1725" b="0">
                <a:solidFill>
                  <a:srgbClr val="101214"/>
                </a:solidFill>
              </a:rPr>
              <a:t>The 15-question benchmark is too small for broad generalization.</a:t>
            </a:r>
          </a:p>
          <a:p xmlns:a="http://schemas.openxmlformats.org/drawingml/2006/main">
            <a:r>
              <a:t/>
            </a:r>
          </a:p>
          <a:p xmlns:a="http://schemas.openxmlformats.org/drawingml/2006/main">
            <a:pPr algn="l">
              <a:defRPr sz="1725" b="0">
                <a:solidFill>
                  <a:srgbClr val="101214"/>
                </a:solidFill>
              </a:defRPr>
            </a:pPr>
            <a:r>
              <a:rPr sz="1725" b="0">
                <a:solidFill>
                  <a:srgbClr val="101214"/>
                </a:solidFill>
              </a:rPr>
              <a:t>AI-assisted quality scores still require final human verification.</a:t>
            </a:r>
          </a:p>
          <a:p xmlns:a="http://schemas.openxmlformats.org/drawingml/2006/main">
            <a:r>
              <a:t/>
            </a:r>
          </a:p>
          <a:p xmlns:a="http://schemas.openxmlformats.org/drawingml/2006/main">
            <a:pPr algn="l">
              <a:defRPr sz="1725" b="0">
                <a:solidFill>
                  <a:srgbClr val="101214"/>
                </a:solidFill>
              </a:defRPr>
            </a:pPr>
            <a:r>
              <a:rPr sz="1725" b="0">
                <a:solidFill>
                  <a:srgbClr val="101214"/>
                </a:solidFill>
              </a:rPr>
              <a:t>The central research question needs user testing: completion rate, time on task, errors, recovery, and confidence.</a:t>
            </a:r>
          </a:p>
        </p:txBody>
      </p:sp>
      <p:sp>
        <p:nvSpPr>
          <p:cNvPr id="9" name="">
            <a:extLst xmlns:a="http://schemas.openxmlformats.org/drawingml/2006/main">
              <a:ext uri="{FF2B5EF4-FFF2-40B4-BE49-F238E27FC236}">
                <a16:creationId xmlns:a16="http://schemas.microsoft.com/office/drawing/2014/main" id="{2C1F7E8C-6684-442E-BB46-FAEE9020EA59}"/>
              </a:ext>
            </a:extLst>
          </p:cNvPr>
          <p:cNvSpPr>
            <a:spLocks xmlns:a="http://schemas.openxmlformats.org/drawingml/2006/main" noGrp="1"/>
          </p:cNvSpPr>
          <p:nvPr/>
        </p:nvSpPr>
        <p:spPr>
          <a:xfrm xmlns:a="http://schemas.openxmlformats.org/drawingml/2006/main">
            <a:off x="5334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9616B"/>
                </a:solidFill>
              </a:defRPr>
            </a:pPr>
            <a:r>
              <a:rPr sz="750" b="1">
                <a:solidFill>
                  <a:srgbClr val="59616B"/>
                </a:solidFill>
              </a:rPr>
              <a:t>ARCHIVIST  •  LOCAL-FIRST AI FOR SCHOOLS</a:t>
            </a:r>
          </a:p>
        </p:txBody>
      </p:sp>
      <p:sp>
        <p:nvSpPr>
          <p:cNvPr id="10" name="">
            <a:extLst xmlns:a="http://schemas.openxmlformats.org/drawingml/2006/main">
              <a:ext uri="{FF2B5EF4-FFF2-40B4-BE49-F238E27FC236}">
                <a16:creationId xmlns:a16="http://schemas.microsoft.com/office/drawing/2014/main" id="{48DF50A7-5F7B-4A04-ADB6-98360CC8CD5D}"/>
              </a:ext>
            </a:extLst>
          </p:cNvPr>
          <p:cNvSpPr>
            <a:spLocks xmlns:a="http://schemas.openxmlformats.org/drawingml/2006/main" noGrp="1"/>
          </p:cNvSpPr>
          <p:nvPr/>
        </p:nvSpPr>
        <p:spPr>
          <a:xfrm xmlns:a="http://schemas.openxmlformats.org/drawingml/2006/main">
            <a:off x="11049000" y="645795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9616B"/>
                </a:solidFill>
              </a:defRPr>
            </a:pPr>
            <a:r>
              <a:rPr sz="750" b="1">
                <a:solidFill>
                  <a:srgbClr val="59616B"/>
                </a:solidFill>
              </a:rPr>
              <a:t>07</a:t>
            </a:r>
          </a:p>
        </p:txBody>
      </p:sp>
    </p:spTree>
    <p:extLst>
      <p:ext uri="{BB962C8B-B14F-4D97-AF65-F5344CB8AC3E}">
        <p14:creationId xmlns:p14="http://schemas.microsoft.com/office/powerpoint/2010/main" val="1134506035"/>
      </p:ext>
    </p:extLst>
  </p:cSld>
</p:sld>
</file>

<file path=ppt/slides/slide8.xml><?xml version="1.0" encoding="utf-8"?>
<p:sld xmlns:p="http://schemas.openxmlformats.org/presentationml/2006/main">
  <p:cSld>
    <p:bg>
      <p:bgPr>
        <a:solidFill xmlns:a="http://schemas.openxmlformats.org/drawingml/2006/main">
          <a:srgbClr val="173B5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B270210-6567-498F-899E-1C1469C769E4}"/>
              </a:ext>
            </a:extLst>
          </p:cNvPr>
          <p:cNvSpPr>
            <a:spLocks xmlns:a="http://schemas.openxmlformats.org/drawingml/2006/main" noGrp="1"/>
          </p:cNvSpPr>
          <p:nvPr/>
        </p:nvSpPr>
        <p:spPr>
          <a:xfrm xmlns:a="http://schemas.openxmlformats.org/drawingml/2006/main">
            <a:off x="533400" y="4000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5D4F5"/>
                </a:solidFill>
              </a:defRPr>
            </a:pPr>
            <a:r>
              <a:rPr sz="1050" b="1">
                <a:solidFill>
                  <a:srgbClr val="75D4F5"/>
                </a:solidFill>
              </a:rPr>
              <a:t>CONCLUSION</a:t>
            </a:r>
          </a:p>
        </p:txBody>
      </p:sp>
      <p:sp>
        <p:nvSpPr>
          <p:cNvPr id="2" name="">
            <a:extLst xmlns:a="http://schemas.openxmlformats.org/drawingml/2006/main">
              <a:ext uri="{FF2B5EF4-FFF2-40B4-BE49-F238E27FC236}">
                <a16:creationId xmlns:a16="http://schemas.microsoft.com/office/drawing/2014/main" id="{CA35F2F1-CB30-4FEB-A884-49EFA0B20317}"/>
              </a:ext>
            </a:extLst>
          </p:cNvPr>
          <p:cNvSpPr>
            <a:spLocks xmlns:a="http://schemas.openxmlformats.org/drawingml/2006/main" noGrp="1"/>
          </p:cNvSpPr>
          <p:nvPr/>
        </p:nvSpPr>
        <p:spPr>
          <a:xfrm xmlns:a="http://schemas.openxmlformats.org/drawingml/2006/main">
            <a:off x="533400" y="1504950"/>
            <a:ext cx="9906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75" b="1">
                <a:solidFill>
                  <a:srgbClr val="FFFFFF"/>
                </a:solidFill>
              </a:defRPr>
            </a:pPr>
            <a:r>
              <a:rPr sz="3675" b="1">
                <a:solidFill>
                  <a:srgbClr val="FFFFFF"/>
                </a:solidFill>
              </a:rPr>
              <a:t>Archivist makes local educational AI more useful by making it grounded—and more practical by making it guided.</a:t>
            </a:r>
          </a:p>
        </p:txBody>
      </p:sp>
      <p:sp>
        <p:nvSpPr>
          <p:cNvPr id="3" name="">
            <a:extLst xmlns:a="http://schemas.openxmlformats.org/drawingml/2006/main">
              <a:ext uri="{FF2B5EF4-FFF2-40B4-BE49-F238E27FC236}">
                <a16:creationId xmlns:a16="http://schemas.microsoft.com/office/drawing/2014/main" id="{7CFFDA3E-B59A-4A85-BB39-59410448AA4C}"/>
              </a:ext>
            </a:extLst>
          </p:cNvPr>
          <p:cNvSpPr>
            <a:spLocks xmlns:a="http://schemas.openxmlformats.org/drawingml/2006/main" noGrp="1"/>
          </p:cNvSpPr>
          <p:nvPr/>
        </p:nvSpPr>
        <p:spPr>
          <a:xfrm xmlns:a="http://schemas.openxmlformats.org/drawingml/2006/main">
            <a:off x="533400" y="4095750"/>
            <a:ext cx="11125200" cy="19050"/>
          </a:xfrm>
          <a:prstGeom xmlns:a="http://schemas.openxmlformats.org/drawingml/2006/main" prst="rect">
            <a:avLst/>
          </a:prstGeom>
          <a:solidFill xmlns:a="http://schemas.openxmlformats.org/drawingml/2006/main">
            <a:srgbClr val="75D4F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D7BC710-1C5D-4F8C-A96D-2A7AF6828F5C}"/>
              </a:ext>
            </a:extLst>
          </p:cNvPr>
          <p:cNvSpPr>
            <a:spLocks xmlns:a="http://schemas.openxmlformats.org/drawingml/2006/main" noGrp="1"/>
          </p:cNvSpPr>
          <p:nvPr/>
        </p:nvSpPr>
        <p:spPr>
          <a:xfrm xmlns:a="http://schemas.openxmlformats.org/drawingml/2006/main">
            <a:off x="533400" y="4476750"/>
            <a:ext cx="990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0">
                <a:solidFill>
                  <a:srgbClr val="FFFFFF"/>
                </a:solidFill>
              </a:defRPr>
            </a:pPr>
            <a:r>
              <a:rPr sz="1800" b="0">
                <a:solidFill>
                  <a:srgbClr val="FFFFFF"/>
                </a:solidFill>
              </a:rPr>
              <a:t>Next: validate the setup experience with real administrators, then harden OCR, background indexing, security, and scale.</a:t>
            </a:r>
          </a:p>
        </p:txBody>
      </p:sp>
      <p:sp>
        <p:nvSpPr>
          <p:cNvPr id="5" name="">
            <a:extLst xmlns:a="http://schemas.openxmlformats.org/drawingml/2006/main">
              <a:ext uri="{FF2B5EF4-FFF2-40B4-BE49-F238E27FC236}">
                <a16:creationId xmlns:a16="http://schemas.microsoft.com/office/drawing/2014/main" id="{00CC7266-7232-465A-9E40-E322C3F0D43E}"/>
              </a:ext>
            </a:extLst>
          </p:cNvPr>
          <p:cNvSpPr>
            <a:spLocks xmlns:a="http://schemas.openxmlformats.org/drawingml/2006/main" noGrp="1"/>
          </p:cNvSpPr>
          <p:nvPr/>
        </p:nvSpPr>
        <p:spPr>
          <a:xfrm xmlns:a="http://schemas.openxmlformats.org/drawingml/2006/main">
            <a:off x="533400" y="59626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75D4F5"/>
                </a:solidFill>
              </a:defRPr>
            </a:pPr>
            <a:r>
              <a:rPr sz="1350" b="1">
                <a:solidFill>
                  <a:srgbClr val="75D4F5"/>
                </a:solidFill>
              </a:rPr>
              <a:t>Questions &amp; stakeholder feedback</a:t>
            </a:r>
          </a:p>
        </p:txBody>
      </p:sp>
    </p:spTree>
    <p:extLst>
      <p:ext uri="{BB962C8B-B14F-4D97-AF65-F5344CB8AC3E}">
        <p14:creationId xmlns:p14="http://schemas.microsoft.com/office/powerpoint/2010/main" val="97953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2026-08-10T20:51:12.5930000Z</dcterms:created>
  <dcterms:modified xsi:type="dcterms:W3CDTF">2026-08-10T20:51:12.5930000Z</dcterms:modified>
</coreProperties>
</file>